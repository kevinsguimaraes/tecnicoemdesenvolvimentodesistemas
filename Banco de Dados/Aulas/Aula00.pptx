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Estilo Médio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38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10/16/2024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10/16/2024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10/16/2024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10/16/2024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10/16/2024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10/16/2024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10/16/2024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EA4FCF-9DE5-7122-D9DF-5A7673AD85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Banco de dados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B6B6181-932D-8FB2-C832-5C03876CE32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05643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5AB47C-F561-62A5-62B0-F27A609E7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C6A88B7-85FC-031E-5CD5-3C0EF7613E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que é um Banco de Dados?</a:t>
            </a:r>
          </a:p>
          <a:p>
            <a:pPr lvl="1"/>
            <a:r>
              <a:rPr lang="pt-BR" dirty="0"/>
              <a:t>Conjunto de dados relacionados que contém informações de interesse para algo ou alguém.</a:t>
            </a:r>
          </a:p>
          <a:p>
            <a:pPr lvl="1"/>
            <a:endParaRPr lang="pt-BR" dirty="0"/>
          </a:p>
          <a:p>
            <a:pPr lvl="1"/>
            <a:r>
              <a:rPr lang="pt-BR" dirty="0"/>
              <a:t>E um SGBD?</a:t>
            </a:r>
          </a:p>
          <a:p>
            <a:pPr lvl="2"/>
            <a:r>
              <a:rPr lang="pt-BR" dirty="0"/>
              <a:t>Sistema Gerenciador de Banco de Dados, é um banco de dados associado a um conjunto de programas para gerenciar esse bando propriamente dito.</a:t>
            </a:r>
          </a:p>
        </p:txBody>
      </p:sp>
    </p:spTree>
    <p:extLst>
      <p:ext uri="{BB962C8B-B14F-4D97-AF65-F5344CB8AC3E}">
        <p14:creationId xmlns:p14="http://schemas.microsoft.com/office/powerpoint/2010/main" val="8958353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7AF61D-9D8E-14CF-D760-080AD59AC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CDC8D93-8C5D-753B-C9C0-6E2B3C7310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Armazenar de forma organizada as informações</a:t>
            </a:r>
          </a:p>
          <a:p>
            <a:r>
              <a:rPr lang="pt-BR" dirty="0"/>
              <a:t>Ajuda a garantir:</a:t>
            </a:r>
          </a:p>
          <a:p>
            <a:pPr lvl="1"/>
            <a:r>
              <a:rPr lang="pt-BR" dirty="0"/>
              <a:t>Controle de inconsistências e redundância</a:t>
            </a:r>
          </a:p>
          <a:p>
            <a:pPr lvl="1"/>
            <a:r>
              <a:rPr lang="pt-BR" dirty="0"/>
              <a:t>Integridade</a:t>
            </a:r>
          </a:p>
          <a:p>
            <a:pPr lvl="1"/>
            <a:r>
              <a:rPr lang="pt-BR" dirty="0"/>
              <a:t>Isolamento</a:t>
            </a:r>
          </a:p>
          <a:p>
            <a:pPr lvl="1"/>
            <a:r>
              <a:rPr lang="pt-BR" dirty="0"/>
              <a:t>Atomicidade</a:t>
            </a:r>
          </a:p>
          <a:p>
            <a:pPr lvl="1"/>
            <a:r>
              <a:rPr lang="pt-BR" dirty="0"/>
              <a:t>Segurança</a:t>
            </a:r>
          </a:p>
          <a:p>
            <a:pPr lvl="1"/>
            <a:r>
              <a:rPr lang="pt-BR" dirty="0"/>
              <a:t>Abstração dos </a:t>
            </a:r>
            <a:r>
              <a:rPr lang="pt-BR" dirty="0" err="1"/>
              <a:t>daos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12697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AE34A0-207B-3E9F-2C7D-E992C0A0B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Dados x informação	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2DDDE2C-93CA-94B8-D165-636639F8DC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Dado é registro de alguma entidade.</a:t>
            </a:r>
          </a:p>
          <a:p>
            <a:pPr lvl="1"/>
            <a:r>
              <a:rPr lang="pt-BR" dirty="0"/>
              <a:t>Ex.: nome,idade,1234,abc, etc.</a:t>
            </a:r>
          </a:p>
          <a:p>
            <a:r>
              <a:rPr lang="pt-BR" dirty="0"/>
              <a:t>Informação é um dado depois de processado e contextualizado</a:t>
            </a:r>
          </a:p>
          <a:p>
            <a:pPr lvl="1"/>
            <a:r>
              <a:rPr lang="pt-BR" dirty="0"/>
              <a:t>João – João é aluno do SENAI</a:t>
            </a:r>
          </a:p>
        </p:txBody>
      </p:sp>
    </p:spTree>
    <p:extLst>
      <p:ext uri="{BB962C8B-B14F-4D97-AF65-F5344CB8AC3E}">
        <p14:creationId xmlns:p14="http://schemas.microsoft.com/office/powerpoint/2010/main" val="29056725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00B899-CCD9-558A-D1EF-27C97441A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SGBD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98C4FE8-2A44-83F4-33E3-E22D70C60F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É o sistema que gerencia os dados e incorpora funções para a manutenção de um BD.</a:t>
            </a:r>
          </a:p>
          <a:p>
            <a:r>
              <a:rPr lang="pt-BR" dirty="0"/>
              <a:t>Porem o SGBD sozinho não vai servir para os usuários.</a:t>
            </a:r>
          </a:p>
          <a:p>
            <a:r>
              <a:rPr lang="pt-BR" dirty="0"/>
              <a:t>Os Sistemas de BD são sistemas desenvolvidos com funções especificas nos </a:t>
            </a:r>
            <a:r>
              <a:rPr lang="pt-BR" dirty="0" err="1"/>
              <a:t>SGBDs</a:t>
            </a:r>
            <a:r>
              <a:rPr lang="pt-BR" dirty="0"/>
              <a:t> que utilizam os </a:t>
            </a:r>
            <a:r>
              <a:rPr lang="pt-BR" dirty="0" err="1"/>
              <a:t>BDs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877669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33B46D5-42D5-4194-B895-B45DCFF223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8896DCC-8879-4CF3-BB2D-0C535C8059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2281238" cy="5289551"/>
            <a:chOff x="0" y="-1"/>
            <a:chExt cx="2281238" cy="5289551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34630B0-6EE6-4DFE-9FC5-0988FED6CB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2"/>
              <a:ext cx="23813" cy="2181225"/>
            </a:xfrm>
            <a:prstGeom prst="rect">
              <a:avLst/>
            </a:pr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605C0C27-BDE8-4899-B838-C0DC2EAB8C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2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EDC3E8DB-0AA9-4C49-A986-24A6D44A52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7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34CA156-4C5B-4EAD-99BC-E2C734D5A5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4"/>
              <a:ext cx="28575" cy="4481513"/>
            </a:xfrm>
            <a:prstGeom prst="rect">
              <a:avLst/>
            </a:pr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5E568387-0266-4411-9330-8E9CD9B823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2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C84DAA3E-ACD2-4620-8906-7C7280CEBC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4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2D86F227-CF83-476B-B657-D6B0C53B3A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7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0" name="Freeform 12">
              <a:extLst>
                <a:ext uri="{FF2B5EF4-FFF2-40B4-BE49-F238E27FC236}">
                  <a16:creationId xmlns:a16="http://schemas.microsoft.com/office/drawing/2014/main" id="{14934B78-B04C-4CFA-A64D-EFA402E14E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2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1" name="Freeform 13">
              <a:extLst>
                <a:ext uri="{FF2B5EF4-FFF2-40B4-BE49-F238E27FC236}">
                  <a16:creationId xmlns:a16="http://schemas.microsoft.com/office/drawing/2014/main" id="{60B3248E-2504-49B9-879B-D0158482C8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4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2" name="Freeform 14">
              <a:extLst>
                <a:ext uri="{FF2B5EF4-FFF2-40B4-BE49-F238E27FC236}">
                  <a16:creationId xmlns:a16="http://schemas.microsoft.com/office/drawing/2014/main" id="{CA4F4223-FB0B-4CA0-8913-341EDCD78C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-1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3" name="Freeform 15">
              <a:extLst>
                <a:ext uri="{FF2B5EF4-FFF2-40B4-BE49-F238E27FC236}">
                  <a16:creationId xmlns:a16="http://schemas.microsoft.com/office/drawing/2014/main" id="{42327D55-3076-45A9-8C23-54CC450F38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2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4" name="Freeform 16">
              <a:extLst>
                <a:ext uri="{FF2B5EF4-FFF2-40B4-BE49-F238E27FC236}">
                  <a16:creationId xmlns:a16="http://schemas.microsoft.com/office/drawing/2014/main" id="{10BA2659-760C-445C-96A9-155F0BF09F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7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5" name="Freeform 17">
              <a:extLst>
                <a:ext uri="{FF2B5EF4-FFF2-40B4-BE49-F238E27FC236}">
                  <a16:creationId xmlns:a16="http://schemas.microsoft.com/office/drawing/2014/main" id="{9EF5E6EC-49CF-43A0-8ED2-136FCDCADE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2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6" name="Freeform 18">
              <a:extLst>
                <a:ext uri="{FF2B5EF4-FFF2-40B4-BE49-F238E27FC236}">
                  <a16:creationId xmlns:a16="http://schemas.microsoft.com/office/drawing/2014/main" id="{F4A1A617-AE8C-49B0-9B78-F0E2BFB2BD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49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7" name="Freeform 19">
              <a:extLst>
                <a:ext uri="{FF2B5EF4-FFF2-40B4-BE49-F238E27FC236}">
                  <a16:creationId xmlns:a16="http://schemas.microsoft.com/office/drawing/2014/main" id="{4B1C21A9-2A27-4BA8-AB2C-E2F23D93F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2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8" name="Freeform 20">
              <a:extLst>
                <a:ext uri="{FF2B5EF4-FFF2-40B4-BE49-F238E27FC236}">
                  <a16:creationId xmlns:a16="http://schemas.microsoft.com/office/drawing/2014/main" id="{803E4DF0-86BE-4F7B-99D9-A4DAF790A6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7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9" name="Freeform 21">
              <a:extLst>
                <a:ext uri="{FF2B5EF4-FFF2-40B4-BE49-F238E27FC236}">
                  <a16:creationId xmlns:a16="http://schemas.microsoft.com/office/drawing/2014/main" id="{324C4266-1501-454D-A3A2-C60585E379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2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id="{335F4B74-90BA-4372-9744-660DE1DAE6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7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1" name="Freeform 25">
              <a:extLst>
                <a:ext uri="{FF2B5EF4-FFF2-40B4-BE49-F238E27FC236}">
                  <a16:creationId xmlns:a16="http://schemas.microsoft.com/office/drawing/2014/main" id="{676BC228-1D88-4E9F-A39C-485245F38A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2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2" name="Freeform 26">
              <a:extLst>
                <a:ext uri="{FF2B5EF4-FFF2-40B4-BE49-F238E27FC236}">
                  <a16:creationId xmlns:a16="http://schemas.microsoft.com/office/drawing/2014/main" id="{82C283AD-515F-427B-A581-F1EC42B2F8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4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3" name="Freeform 27">
              <a:extLst>
                <a:ext uri="{FF2B5EF4-FFF2-40B4-BE49-F238E27FC236}">
                  <a16:creationId xmlns:a16="http://schemas.microsoft.com/office/drawing/2014/main" id="{A211013C-44EA-4C7F-867A-70F84606A1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49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4" name="Freeform 28">
              <a:extLst>
                <a:ext uri="{FF2B5EF4-FFF2-40B4-BE49-F238E27FC236}">
                  <a16:creationId xmlns:a16="http://schemas.microsoft.com/office/drawing/2014/main" id="{5A091894-50E1-4B1B-94B2-693B5DC5A0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7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5" name="Freeform 29">
              <a:extLst>
                <a:ext uri="{FF2B5EF4-FFF2-40B4-BE49-F238E27FC236}">
                  <a16:creationId xmlns:a16="http://schemas.microsoft.com/office/drawing/2014/main" id="{33665320-A7B0-4BE7-B587-654A5E130F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2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5E731000-CA59-41D5-BBAF-4CF0C93CC0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2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7" name="Freeform 37">
              <a:extLst>
                <a:ext uri="{FF2B5EF4-FFF2-40B4-BE49-F238E27FC236}">
                  <a16:creationId xmlns:a16="http://schemas.microsoft.com/office/drawing/2014/main" id="{3ADE52FC-89F2-4DE3-90F2-23F8A19B5F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7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8" name="Freeform 38">
              <a:extLst>
                <a:ext uri="{FF2B5EF4-FFF2-40B4-BE49-F238E27FC236}">
                  <a16:creationId xmlns:a16="http://schemas.microsoft.com/office/drawing/2014/main" id="{C598494B-717D-4E29-9D55-F0FEF36C02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2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9" name="Freeform 39">
              <a:extLst>
                <a:ext uri="{FF2B5EF4-FFF2-40B4-BE49-F238E27FC236}">
                  <a16:creationId xmlns:a16="http://schemas.microsoft.com/office/drawing/2014/main" id="{4E748B28-C809-4A72-BA26-B42706005B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2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0" name="Freeform 40">
              <a:extLst>
                <a:ext uri="{FF2B5EF4-FFF2-40B4-BE49-F238E27FC236}">
                  <a16:creationId xmlns:a16="http://schemas.microsoft.com/office/drawing/2014/main" id="{1B55B6D8-6E87-41B4-8C20-4C59AB35B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7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1" name="Freeform 41">
              <a:extLst>
                <a:ext uri="{FF2B5EF4-FFF2-40B4-BE49-F238E27FC236}">
                  <a16:creationId xmlns:a16="http://schemas.microsoft.com/office/drawing/2014/main" id="{8AF0CB98-D797-4C0F-B534-B53FFEC580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7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2" name="Freeform 42">
              <a:extLst>
                <a:ext uri="{FF2B5EF4-FFF2-40B4-BE49-F238E27FC236}">
                  <a16:creationId xmlns:a16="http://schemas.microsoft.com/office/drawing/2014/main" id="{8161F426-0884-4746-ADFB-ED2E8ED5E2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4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3" name="Freeform 43">
              <a:extLst>
                <a:ext uri="{FF2B5EF4-FFF2-40B4-BE49-F238E27FC236}">
                  <a16:creationId xmlns:a16="http://schemas.microsoft.com/office/drawing/2014/main" id="{9FB6AEF0-B7A7-4C34-8BCA-D1939E5C0F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7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4" name="Freeform 44">
              <a:extLst>
                <a:ext uri="{FF2B5EF4-FFF2-40B4-BE49-F238E27FC236}">
                  <a16:creationId xmlns:a16="http://schemas.microsoft.com/office/drawing/2014/main" id="{C4221C70-D5F8-42A7-B0AF-B63791EFA8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4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5" name="Freeform 57">
              <a:extLst>
                <a:ext uri="{FF2B5EF4-FFF2-40B4-BE49-F238E27FC236}">
                  <a16:creationId xmlns:a16="http://schemas.microsoft.com/office/drawing/2014/main" id="{4C075733-AA99-4CB2-934E-9F42E6FC16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4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6" name="Freeform 58">
              <a:extLst>
                <a:ext uri="{FF2B5EF4-FFF2-40B4-BE49-F238E27FC236}">
                  <a16:creationId xmlns:a16="http://schemas.microsoft.com/office/drawing/2014/main" id="{266B426D-F5FB-456F-84B5-2DACFEA7AB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2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8" name="Round Diagonal Corner Rectangle 6">
            <a:extLst>
              <a:ext uri="{FF2B5EF4-FFF2-40B4-BE49-F238E27FC236}">
                <a16:creationId xmlns:a16="http://schemas.microsoft.com/office/drawing/2014/main" id="{083A6575-45DF-4CD7-8E7D-50E51B82D5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11680" y="808057"/>
            <a:ext cx="9370695" cy="5234394"/>
          </a:xfrm>
          <a:prstGeom prst="round2DiagRect">
            <a:avLst>
              <a:gd name="adj1" fmla="val 6185"/>
              <a:gd name="adj2" fmla="val 0"/>
            </a:avLst>
          </a:prstGeom>
          <a:solidFill>
            <a:srgbClr val="FFFFFF"/>
          </a:solidFill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m 4" descr="Diagrama&#10;&#10;Descrição gerada automaticamente">
            <a:extLst>
              <a:ext uri="{FF2B5EF4-FFF2-40B4-BE49-F238E27FC236}">
                <a16:creationId xmlns:a16="http://schemas.microsoft.com/office/drawing/2014/main" id="{3B3FD354-4D03-594A-2C38-169D3F29FA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7787" y="1136606"/>
            <a:ext cx="5514816" cy="4577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5470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34DEDE1A-994E-3848-E7B4-F27FE18B38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3385377"/>
              </p:ext>
            </p:extLst>
          </p:nvPr>
        </p:nvGraphicFramePr>
        <p:xfrm>
          <a:off x="1049866" y="1413933"/>
          <a:ext cx="10270068" cy="4236717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5135034">
                  <a:extLst>
                    <a:ext uri="{9D8B030D-6E8A-4147-A177-3AD203B41FA5}">
                      <a16:colId xmlns:a16="http://schemas.microsoft.com/office/drawing/2014/main" val="4191969274"/>
                    </a:ext>
                  </a:extLst>
                </a:gridCol>
                <a:gridCol w="5135034">
                  <a:extLst>
                    <a:ext uri="{9D8B030D-6E8A-4147-A177-3AD203B41FA5}">
                      <a16:colId xmlns:a16="http://schemas.microsoft.com/office/drawing/2014/main" val="3761086860"/>
                    </a:ext>
                  </a:extLst>
                </a:gridCol>
              </a:tblGrid>
              <a:tr h="598125">
                <a:tc>
                  <a:txBody>
                    <a:bodyPr/>
                    <a:lstStyle/>
                    <a:p>
                      <a:r>
                        <a:rPr lang="pt-BR" dirty="0"/>
                        <a:t>VANTAGENS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DESVANTAGENS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4099142"/>
                  </a:ext>
                </a:extLst>
              </a:tr>
              <a:tr h="606432">
                <a:tc>
                  <a:txBody>
                    <a:bodyPr/>
                    <a:lstStyle/>
                    <a:p>
                      <a:r>
                        <a:rPr lang="pt-BR" dirty="0"/>
                        <a:t>Segurança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Elevado custo com os softwares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0628469"/>
                  </a:ext>
                </a:extLst>
              </a:tr>
              <a:tr h="606432">
                <a:tc>
                  <a:txBody>
                    <a:bodyPr/>
                    <a:lstStyle/>
                    <a:p>
                      <a:r>
                        <a:rPr lang="pt-BR" dirty="0"/>
                        <a:t>Mecanismo de BKP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Equipe altamente capacitada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9061143"/>
                  </a:ext>
                </a:extLst>
              </a:tr>
              <a:tr h="606432">
                <a:tc>
                  <a:txBody>
                    <a:bodyPr/>
                    <a:lstStyle/>
                    <a:p>
                      <a:r>
                        <a:rPr lang="pt-BR" dirty="0"/>
                        <a:t>Garante a consistência dos dados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Elevado overhead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2980175"/>
                  </a:ext>
                </a:extLst>
              </a:tr>
              <a:tr h="606432">
                <a:tc>
                  <a:txBody>
                    <a:bodyPr/>
                    <a:lstStyle/>
                    <a:p>
                      <a:r>
                        <a:rPr lang="pt-BR" dirty="0"/>
                        <a:t>Evita redundância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5703006"/>
                  </a:ext>
                </a:extLst>
              </a:tr>
              <a:tr h="606432">
                <a:tc>
                  <a:txBody>
                    <a:bodyPr/>
                    <a:lstStyle/>
                    <a:p>
                      <a:r>
                        <a:rPr lang="pt-BR" dirty="0"/>
                        <a:t>Maior flexibilidade para mudanças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3016641"/>
                  </a:ext>
                </a:extLst>
              </a:tr>
              <a:tr h="606432">
                <a:tc>
                  <a:txBody>
                    <a:bodyPr/>
                    <a:lstStyle/>
                    <a:p>
                      <a:r>
                        <a:rPr lang="pt-BR" dirty="0"/>
                        <a:t>Compartilhamento entre múltiplos usuários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08546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24966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6B2081-E7FB-42AA-3FA9-F0208E05A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Principais sgbds</a:t>
            </a:r>
            <a:endParaRPr lang="pt-BR" dirty="0"/>
          </a:p>
        </p:txBody>
      </p:sp>
      <p:pic>
        <p:nvPicPr>
          <p:cNvPr id="4" name="Imagem 3" descr="Gráfico, Gráfico de barras&#10;&#10;Descrição gerada automaticamente">
            <a:extLst>
              <a:ext uri="{FF2B5EF4-FFF2-40B4-BE49-F238E27FC236}">
                <a16:creationId xmlns:a16="http://schemas.microsoft.com/office/drawing/2014/main" id="{C4185B41-8DFE-CA85-65FA-9B206B8BF0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811" y="1732492"/>
            <a:ext cx="9753600" cy="478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260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DAFC2790-847D-BAA7-30AF-0477F1F19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Classificação dos </a:t>
            </a:r>
            <a:r>
              <a:rPr lang="pt-BR" dirty="0" err="1"/>
              <a:t>bd</a:t>
            </a:r>
            <a:endParaRPr lang="pt-BR" dirty="0"/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EE28673B-CD81-EF8F-32B7-E17DE7B82D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Existem vários tipos de BD</a:t>
            </a:r>
          </a:p>
          <a:p>
            <a:pPr lvl="1"/>
            <a:r>
              <a:rPr lang="pt-BR" dirty="0"/>
              <a:t>Relacional</a:t>
            </a:r>
          </a:p>
          <a:p>
            <a:pPr lvl="1"/>
            <a:r>
              <a:rPr lang="pt-BR" dirty="0"/>
              <a:t>Orientado a Objetos</a:t>
            </a:r>
          </a:p>
          <a:p>
            <a:pPr lvl="1"/>
            <a:r>
              <a:rPr lang="pt-BR" dirty="0"/>
              <a:t>Multimidia</a:t>
            </a:r>
          </a:p>
          <a:p>
            <a:pPr lvl="1"/>
            <a:r>
              <a:rPr lang="pt-BR" dirty="0"/>
              <a:t>Geográfico</a:t>
            </a:r>
          </a:p>
          <a:p>
            <a:pPr lvl="1"/>
            <a:r>
              <a:rPr lang="pt-BR" dirty="0"/>
              <a:t>Entre outros</a:t>
            </a:r>
          </a:p>
        </p:txBody>
      </p:sp>
    </p:spTree>
    <p:extLst>
      <p:ext uri="{BB962C8B-B14F-4D97-AF65-F5344CB8AC3E}">
        <p14:creationId xmlns:p14="http://schemas.microsoft.com/office/powerpoint/2010/main" val="40450354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1683C6-B1B0-A513-C59A-A2CAFCDD0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Bd</a:t>
            </a:r>
            <a:r>
              <a:rPr lang="pt-BR" dirty="0"/>
              <a:t> Relacional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976AD17-F0BB-41D1-BFB6-0B7411D370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Possui seus dados armazenados em tabelas (relações ou entidade) devidamente relacionadas e identificadas.</a:t>
            </a:r>
          </a:p>
          <a:p>
            <a:r>
              <a:rPr lang="pt-BR" dirty="0"/>
              <a:t>Cada tabela possui suas linhas(tuplas) e colunas (atributos)</a:t>
            </a:r>
          </a:p>
          <a:p>
            <a:r>
              <a:rPr lang="pt-BR" dirty="0"/>
              <a:t>Toma como base o Modelo Relacional</a:t>
            </a:r>
          </a:p>
        </p:txBody>
      </p:sp>
    </p:spTree>
    <p:extLst>
      <p:ext uri="{BB962C8B-B14F-4D97-AF65-F5344CB8AC3E}">
        <p14:creationId xmlns:p14="http://schemas.microsoft.com/office/powerpoint/2010/main" val="18784828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9">
            <a:extLst>
              <a:ext uri="{FF2B5EF4-FFF2-40B4-BE49-F238E27FC236}">
                <a16:creationId xmlns:a16="http://schemas.microsoft.com/office/drawing/2014/main" id="{933B46D5-42D5-4194-B895-B45DCFF223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3" name="Group 11">
            <a:extLst>
              <a:ext uri="{FF2B5EF4-FFF2-40B4-BE49-F238E27FC236}">
                <a16:creationId xmlns:a16="http://schemas.microsoft.com/office/drawing/2014/main" id="{18896DCC-8879-4CF3-BB2D-0C535C8059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2281238" cy="5289551"/>
            <a:chOff x="0" y="-1"/>
            <a:chExt cx="2281238" cy="5289551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34630B0-6EE6-4DFE-9FC5-0988FED6CB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2"/>
              <a:ext cx="23813" cy="2181225"/>
            </a:xfrm>
            <a:prstGeom prst="rect">
              <a:avLst/>
            </a:pr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4" name="Freeform 6">
              <a:extLst>
                <a:ext uri="{FF2B5EF4-FFF2-40B4-BE49-F238E27FC236}">
                  <a16:creationId xmlns:a16="http://schemas.microsoft.com/office/drawing/2014/main" id="{605C0C27-BDE8-4899-B838-C0DC2EAB8C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2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EDC3E8DB-0AA9-4C49-A986-24A6D44A52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7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5" name="Rectangle 15">
              <a:extLst>
                <a:ext uri="{FF2B5EF4-FFF2-40B4-BE49-F238E27FC236}">
                  <a16:creationId xmlns:a16="http://schemas.microsoft.com/office/drawing/2014/main" id="{334CA156-4C5B-4EAD-99BC-E2C734D5A5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4"/>
              <a:ext cx="28575" cy="4481513"/>
            </a:xfrm>
            <a:prstGeom prst="rect">
              <a:avLst/>
            </a:pr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6" name="Freeform 9">
              <a:extLst>
                <a:ext uri="{FF2B5EF4-FFF2-40B4-BE49-F238E27FC236}">
                  <a16:creationId xmlns:a16="http://schemas.microsoft.com/office/drawing/2014/main" id="{5E568387-0266-4411-9330-8E9CD9B823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2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7" name="Freeform 10">
              <a:extLst>
                <a:ext uri="{FF2B5EF4-FFF2-40B4-BE49-F238E27FC236}">
                  <a16:creationId xmlns:a16="http://schemas.microsoft.com/office/drawing/2014/main" id="{C84DAA3E-ACD2-4620-8906-7C7280CEBC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4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8" name="Freeform 11">
              <a:extLst>
                <a:ext uri="{FF2B5EF4-FFF2-40B4-BE49-F238E27FC236}">
                  <a16:creationId xmlns:a16="http://schemas.microsoft.com/office/drawing/2014/main" id="{2D86F227-CF83-476B-B657-D6B0C53B3A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7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9" name="Freeform 12">
              <a:extLst>
                <a:ext uri="{FF2B5EF4-FFF2-40B4-BE49-F238E27FC236}">
                  <a16:creationId xmlns:a16="http://schemas.microsoft.com/office/drawing/2014/main" id="{14934B78-B04C-4CFA-A64D-EFA402E14E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2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0" name="Freeform 13">
              <a:extLst>
                <a:ext uri="{FF2B5EF4-FFF2-40B4-BE49-F238E27FC236}">
                  <a16:creationId xmlns:a16="http://schemas.microsoft.com/office/drawing/2014/main" id="{60B3248E-2504-49B9-879B-D0158482C8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4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1" name="Freeform 14">
              <a:extLst>
                <a:ext uri="{FF2B5EF4-FFF2-40B4-BE49-F238E27FC236}">
                  <a16:creationId xmlns:a16="http://schemas.microsoft.com/office/drawing/2014/main" id="{CA4F4223-FB0B-4CA0-8913-341EDCD78C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-1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2" name="Freeform 15">
              <a:extLst>
                <a:ext uri="{FF2B5EF4-FFF2-40B4-BE49-F238E27FC236}">
                  <a16:creationId xmlns:a16="http://schemas.microsoft.com/office/drawing/2014/main" id="{42327D55-3076-45A9-8C23-54CC450F38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2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3" name="Freeform 16">
              <a:extLst>
                <a:ext uri="{FF2B5EF4-FFF2-40B4-BE49-F238E27FC236}">
                  <a16:creationId xmlns:a16="http://schemas.microsoft.com/office/drawing/2014/main" id="{10BA2659-760C-445C-96A9-155F0BF09F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7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4" name="Freeform 17">
              <a:extLst>
                <a:ext uri="{FF2B5EF4-FFF2-40B4-BE49-F238E27FC236}">
                  <a16:creationId xmlns:a16="http://schemas.microsoft.com/office/drawing/2014/main" id="{9EF5E6EC-49CF-43A0-8ED2-136FCDCADE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2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5" name="Freeform 18">
              <a:extLst>
                <a:ext uri="{FF2B5EF4-FFF2-40B4-BE49-F238E27FC236}">
                  <a16:creationId xmlns:a16="http://schemas.microsoft.com/office/drawing/2014/main" id="{F4A1A617-AE8C-49B0-9B78-F0E2BFB2BD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49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6" name="Freeform 19">
              <a:extLst>
                <a:ext uri="{FF2B5EF4-FFF2-40B4-BE49-F238E27FC236}">
                  <a16:creationId xmlns:a16="http://schemas.microsoft.com/office/drawing/2014/main" id="{4B1C21A9-2A27-4BA8-AB2C-E2F23D93F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2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7" name="Freeform 20">
              <a:extLst>
                <a:ext uri="{FF2B5EF4-FFF2-40B4-BE49-F238E27FC236}">
                  <a16:creationId xmlns:a16="http://schemas.microsoft.com/office/drawing/2014/main" id="{803E4DF0-86BE-4F7B-99D9-A4DAF790A6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7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8" name="Freeform 21">
              <a:extLst>
                <a:ext uri="{FF2B5EF4-FFF2-40B4-BE49-F238E27FC236}">
                  <a16:creationId xmlns:a16="http://schemas.microsoft.com/office/drawing/2014/main" id="{324C4266-1501-454D-A3A2-C60585E379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2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9" name="Freeform 24">
              <a:extLst>
                <a:ext uri="{FF2B5EF4-FFF2-40B4-BE49-F238E27FC236}">
                  <a16:creationId xmlns:a16="http://schemas.microsoft.com/office/drawing/2014/main" id="{335F4B74-90BA-4372-9744-660DE1DAE6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7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0" name="Freeform 25">
              <a:extLst>
                <a:ext uri="{FF2B5EF4-FFF2-40B4-BE49-F238E27FC236}">
                  <a16:creationId xmlns:a16="http://schemas.microsoft.com/office/drawing/2014/main" id="{676BC228-1D88-4E9F-A39C-485245F38A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2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1" name="Freeform 26">
              <a:extLst>
                <a:ext uri="{FF2B5EF4-FFF2-40B4-BE49-F238E27FC236}">
                  <a16:creationId xmlns:a16="http://schemas.microsoft.com/office/drawing/2014/main" id="{82C283AD-515F-427B-A581-F1EC42B2F8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4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2" name="Freeform 27">
              <a:extLst>
                <a:ext uri="{FF2B5EF4-FFF2-40B4-BE49-F238E27FC236}">
                  <a16:creationId xmlns:a16="http://schemas.microsoft.com/office/drawing/2014/main" id="{A211013C-44EA-4C7F-867A-70F84606A1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49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3" name="Freeform 28">
              <a:extLst>
                <a:ext uri="{FF2B5EF4-FFF2-40B4-BE49-F238E27FC236}">
                  <a16:creationId xmlns:a16="http://schemas.microsoft.com/office/drawing/2014/main" id="{5A091894-50E1-4B1B-94B2-693B5DC5A0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7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4" name="Freeform 29">
              <a:extLst>
                <a:ext uri="{FF2B5EF4-FFF2-40B4-BE49-F238E27FC236}">
                  <a16:creationId xmlns:a16="http://schemas.microsoft.com/office/drawing/2014/main" id="{33665320-A7B0-4BE7-B587-654A5E130F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2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5" name="Freeform 36">
              <a:extLst>
                <a:ext uri="{FF2B5EF4-FFF2-40B4-BE49-F238E27FC236}">
                  <a16:creationId xmlns:a16="http://schemas.microsoft.com/office/drawing/2014/main" id="{5E731000-CA59-41D5-BBAF-4CF0C93CC0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2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6" name="Freeform 37">
              <a:extLst>
                <a:ext uri="{FF2B5EF4-FFF2-40B4-BE49-F238E27FC236}">
                  <a16:creationId xmlns:a16="http://schemas.microsoft.com/office/drawing/2014/main" id="{3ADE52FC-89F2-4DE3-90F2-23F8A19B5F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7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7" name="Freeform 38">
              <a:extLst>
                <a:ext uri="{FF2B5EF4-FFF2-40B4-BE49-F238E27FC236}">
                  <a16:creationId xmlns:a16="http://schemas.microsoft.com/office/drawing/2014/main" id="{C598494B-717D-4E29-9D55-F0FEF36C02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2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8" name="Freeform 39">
              <a:extLst>
                <a:ext uri="{FF2B5EF4-FFF2-40B4-BE49-F238E27FC236}">
                  <a16:creationId xmlns:a16="http://schemas.microsoft.com/office/drawing/2014/main" id="{4E748B28-C809-4A72-BA26-B42706005B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2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9" name="Freeform 40">
              <a:extLst>
                <a:ext uri="{FF2B5EF4-FFF2-40B4-BE49-F238E27FC236}">
                  <a16:creationId xmlns:a16="http://schemas.microsoft.com/office/drawing/2014/main" id="{1B55B6D8-6E87-41B4-8C20-4C59AB35B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7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0" name="Freeform 41">
              <a:extLst>
                <a:ext uri="{FF2B5EF4-FFF2-40B4-BE49-F238E27FC236}">
                  <a16:creationId xmlns:a16="http://schemas.microsoft.com/office/drawing/2014/main" id="{8AF0CB98-D797-4C0F-B534-B53FFEC580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7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1" name="Freeform 42">
              <a:extLst>
                <a:ext uri="{FF2B5EF4-FFF2-40B4-BE49-F238E27FC236}">
                  <a16:creationId xmlns:a16="http://schemas.microsoft.com/office/drawing/2014/main" id="{8161F426-0884-4746-ADFB-ED2E8ED5E2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4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2" name="Freeform 43">
              <a:extLst>
                <a:ext uri="{FF2B5EF4-FFF2-40B4-BE49-F238E27FC236}">
                  <a16:creationId xmlns:a16="http://schemas.microsoft.com/office/drawing/2014/main" id="{9FB6AEF0-B7A7-4C34-8BCA-D1939E5C0F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7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3" name="Freeform 44">
              <a:extLst>
                <a:ext uri="{FF2B5EF4-FFF2-40B4-BE49-F238E27FC236}">
                  <a16:creationId xmlns:a16="http://schemas.microsoft.com/office/drawing/2014/main" id="{C4221C70-D5F8-42A7-B0AF-B63791EFA8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4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4" name="Freeform 57">
              <a:extLst>
                <a:ext uri="{FF2B5EF4-FFF2-40B4-BE49-F238E27FC236}">
                  <a16:creationId xmlns:a16="http://schemas.microsoft.com/office/drawing/2014/main" id="{4C075733-AA99-4CB2-934E-9F42E6FC16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4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5" name="Freeform 58">
              <a:extLst>
                <a:ext uri="{FF2B5EF4-FFF2-40B4-BE49-F238E27FC236}">
                  <a16:creationId xmlns:a16="http://schemas.microsoft.com/office/drawing/2014/main" id="{266B426D-F5FB-456F-84B5-2DACFEA7AB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2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86" name="Round Diagonal Corner Rectangle 6">
            <a:extLst>
              <a:ext uri="{FF2B5EF4-FFF2-40B4-BE49-F238E27FC236}">
                <a16:creationId xmlns:a16="http://schemas.microsoft.com/office/drawing/2014/main" id="{083A6575-45DF-4CD7-8E7D-50E51B82D5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11680" y="808057"/>
            <a:ext cx="9370695" cy="5234394"/>
          </a:xfrm>
          <a:prstGeom prst="round2DiagRect">
            <a:avLst>
              <a:gd name="adj1" fmla="val 6185"/>
              <a:gd name="adj2" fmla="val 0"/>
            </a:avLst>
          </a:prstGeom>
          <a:solidFill>
            <a:srgbClr val="FFFFFF"/>
          </a:solidFill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m 4" descr="Diagrama&#10;&#10;Descrição gerada automaticamente">
            <a:extLst>
              <a:ext uri="{FF2B5EF4-FFF2-40B4-BE49-F238E27FC236}">
                <a16:creationId xmlns:a16="http://schemas.microsoft.com/office/drawing/2014/main" id="{452095A2-159F-CFFB-7DDE-ED5EBE3539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6735" y="1136606"/>
            <a:ext cx="5416920" cy="4577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596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C0E7E2-972E-8FB3-CD0D-BBDA9037D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Projeto de </a:t>
            </a:r>
            <a:r>
              <a:rPr lang="pt-BR" dirty="0" err="1"/>
              <a:t>bd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BB3CD3B-F1CA-ACFE-A6B6-6CC7244F58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Para a criação de um projeto de BD é necessário a realização de alguns passos:</a:t>
            </a:r>
          </a:p>
          <a:p>
            <a:pPr lvl="1"/>
            <a:r>
              <a:rPr lang="pt-BR" dirty="0"/>
              <a:t>Levantamento de Requisitos</a:t>
            </a:r>
          </a:p>
          <a:p>
            <a:pPr lvl="1"/>
            <a:r>
              <a:rPr lang="pt-BR" dirty="0"/>
              <a:t>Projeto Conceitual</a:t>
            </a:r>
          </a:p>
          <a:p>
            <a:pPr lvl="1"/>
            <a:r>
              <a:rPr lang="pt-BR" dirty="0"/>
              <a:t>Projeto Lógico</a:t>
            </a:r>
          </a:p>
          <a:p>
            <a:pPr lvl="1"/>
            <a:r>
              <a:rPr lang="pt-BR" dirty="0"/>
              <a:t>Projeto Físico</a:t>
            </a:r>
          </a:p>
        </p:txBody>
      </p:sp>
    </p:spTree>
    <p:extLst>
      <p:ext uri="{BB962C8B-B14F-4D97-AF65-F5344CB8AC3E}">
        <p14:creationId xmlns:p14="http://schemas.microsoft.com/office/powerpoint/2010/main" val="9236906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9">
            <a:extLst>
              <a:ext uri="{FF2B5EF4-FFF2-40B4-BE49-F238E27FC236}">
                <a16:creationId xmlns:a16="http://schemas.microsoft.com/office/drawing/2014/main" id="{933B46D5-42D5-4194-B895-B45DCFF223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9" name="Group 11">
            <a:extLst>
              <a:ext uri="{FF2B5EF4-FFF2-40B4-BE49-F238E27FC236}">
                <a16:creationId xmlns:a16="http://schemas.microsoft.com/office/drawing/2014/main" id="{18896DCC-8879-4CF3-BB2D-0C535C8059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2281238" cy="5289551"/>
            <a:chOff x="0" y="-1"/>
            <a:chExt cx="2281238" cy="5289551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34630B0-6EE6-4DFE-9FC5-0988FED6CB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2"/>
              <a:ext cx="23813" cy="2181225"/>
            </a:xfrm>
            <a:prstGeom prst="rect">
              <a:avLst/>
            </a:pr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0" name="Freeform 6">
              <a:extLst>
                <a:ext uri="{FF2B5EF4-FFF2-40B4-BE49-F238E27FC236}">
                  <a16:creationId xmlns:a16="http://schemas.microsoft.com/office/drawing/2014/main" id="{605C0C27-BDE8-4899-B838-C0DC2EAB8C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2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EDC3E8DB-0AA9-4C49-A986-24A6D44A52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7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34CA156-4C5B-4EAD-99BC-E2C734D5A5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4"/>
              <a:ext cx="28575" cy="4481513"/>
            </a:xfrm>
            <a:prstGeom prst="rect">
              <a:avLst/>
            </a:pr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5E568387-0266-4411-9330-8E9CD9B823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2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C84DAA3E-ACD2-4620-8906-7C7280CEBC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4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2D86F227-CF83-476B-B657-D6B0C53B3A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7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0" name="Freeform 12">
              <a:extLst>
                <a:ext uri="{FF2B5EF4-FFF2-40B4-BE49-F238E27FC236}">
                  <a16:creationId xmlns:a16="http://schemas.microsoft.com/office/drawing/2014/main" id="{14934B78-B04C-4CFA-A64D-EFA402E14E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2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1" name="Freeform 13">
              <a:extLst>
                <a:ext uri="{FF2B5EF4-FFF2-40B4-BE49-F238E27FC236}">
                  <a16:creationId xmlns:a16="http://schemas.microsoft.com/office/drawing/2014/main" id="{60B3248E-2504-49B9-879B-D0158482C8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4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2" name="Freeform 14">
              <a:extLst>
                <a:ext uri="{FF2B5EF4-FFF2-40B4-BE49-F238E27FC236}">
                  <a16:creationId xmlns:a16="http://schemas.microsoft.com/office/drawing/2014/main" id="{CA4F4223-FB0B-4CA0-8913-341EDCD78C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-1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3" name="Freeform 15">
              <a:extLst>
                <a:ext uri="{FF2B5EF4-FFF2-40B4-BE49-F238E27FC236}">
                  <a16:creationId xmlns:a16="http://schemas.microsoft.com/office/drawing/2014/main" id="{42327D55-3076-45A9-8C23-54CC450F38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2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4" name="Freeform 16">
              <a:extLst>
                <a:ext uri="{FF2B5EF4-FFF2-40B4-BE49-F238E27FC236}">
                  <a16:creationId xmlns:a16="http://schemas.microsoft.com/office/drawing/2014/main" id="{10BA2659-760C-445C-96A9-155F0BF09F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7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5" name="Freeform 17">
              <a:extLst>
                <a:ext uri="{FF2B5EF4-FFF2-40B4-BE49-F238E27FC236}">
                  <a16:creationId xmlns:a16="http://schemas.microsoft.com/office/drawing/2014/main" id="{9EF5E6EC-49CF-43A0-8ED2-136FCDCADE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2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6" name="Freeform 18">
              <a:extLst>
                <a:ext uri="{FF2B5EF4-FFF2-40B4-BE49-F238E27FC236}">
                  <a16:creationId xmlns:a16="http://schemas.microsoft.com/office/drawing/2014/main" id="{F4A1A617-AE8C-49B0-9B78-F0E2BFB2BD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49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7" name="Freeform 19">
              <a:extLst>
                <a:ext uri="{FF2B5EF4-FFF2-40B4-BE49-F238E27FC236}">
                  <a16:creationId xmlns:a16="http://schemas.microsoft.com/office/drawing/2014/main" id="{4B1C21A9-2A27-4BA8-AB2C-E2F23D93F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2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8" name="Freeform 20">
              <a:extLst>
                <a:ext uri="{FF2B5EF4-FFF2-40B4-BE49-F238E27FC236}">
                  <a16:creationId xmlns:a16="http://schemas.microsoft.com/office/drawing/2014/main" id="{803E4DF0-86BE-4F7B-99D9-A4DAF790A6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7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9" name="Freeform 21">
              <a:extLst>
                <a:ext uri="{FF2B5EF4-FFF2-40B4-BE49-F238E27FC236}">
                  <a16:creationId xmlns:a16="http://schemas.microsoft.com/office/drawing/2014/main" id="{324C4266-1501-454D-A3A2-C60585E379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2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id="{335F4B74-90BA-4372-9744-660DE1DAE6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7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1" name="Freeform 25">
              <a:extLst>
                <a:ext uri="{FF2B5EF4-FFF2-40B4-BE49-F238E27FC236}">
                  <a16:creationId xmlns:a16="http://schemas.microsoft.com/office/drawing/2014/main" id="{676BC228-1D88-4E9F-A39C-485245F38A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2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2" name="Freeform 26">
              <a:extLst>
                <a:ext uri="{FF2B5EF4-FFF2-40B4-BE49-F238E27FC236}">
                  <a16:creationId xmlns:a16="http://schemas.microsoft.com/office/drawing/2014/main" id="{82C283AD-515F-427B-A581-F1EC42B2F8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4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3" name="Freeform 27">
              <a:extLst>
                <a:ext uri="{FF2B5EF4-FFF2-40B4-BE49-F238E27FC236}">
                  <a16:creationId xmlns:a16="http://schemas.microsoft.com/office/drawing/2014/main" id="{A211013C-44EA-4C7F-867A-70F84606A1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49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4" name="Freeform 28">
              <a:extLst>
                <a:ext uri="{FF2B5EF4-FFF2-40B4-BE49-F238E27FC236}">
                  <a16:creationId xmlns:a16="http://schemas.microsoft.com/office/drawing/2014/main" id="{5A091894-50E1-4B1B-94B2-693B5DC5A0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7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5" name="Freeform 29">
              <a:extLst>
                <a:ext uri="{FF2B5EF4-FFF2-40B4-BE49-F238E27FC236}">
                  <a16:creationId xmlns:a16="http://schemas.microsoft.com/office/drawing/2014/main" id="{33665320-A7B0-4BE7-B587-654A5E130F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2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5E731000-CA59-41D5-BBAF-4CF0C93CC0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2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7" name="Freeform 37">
              <a:extLst>
                <a:ext uri="{FF2B5EF4-FFF2-40B4-BE49-F238E27FC236}">
                  <a16:creationId xmlns:a16="http://schemas.microsoft.com/office/drawing/2014/main" id="{3ADE52FC-89F2-4DE3-90F2-23F8A19B5F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7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8" name="Freeform 38">
              <a:extLst>
                <a:ext uri="{FF2B5EF4-FFF2-40B4-BE49-F238E27FC236}">
                  <a16:creationId xmlns:a16="http://schemas.microsoft.com/office/drawing/2014/main" id="{C598494B-717D-4E29-9D55-F0FEF36C02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2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9" name="Freeform 39">
              <a:extLst>
                <a:ext uri="{FF2B5EF4-FFF2-40B4-BE49-F238E27FC236}">
                  <a16:creationId xmlns:a16="http://schemas.microsoft.com/office/drawing/2014/main" id="{4E748B28-C809-4A72-BA26-B42706005B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2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0" name="Freeform 40">
              <a:extLst>
                <a:ext uri="{FF2B5EF4-FFF2-40B4-BE49-F238E27FC236}">
                  <a16:creationId xmlns:a16="http://schemas.microsoft.com/office/drawing/2014/main" id="{1B55B6D8-6E87-41B4-8C20-4C59AB35B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7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1" name="Freeform 41">
              <a:extLst>
                <a:ext uri="{FF2B5EF4-FFF2-40B4-BE49-F238E27FC236}">
                  <a16:creationId xmlns:a16="http://schemas.microsoft.com/office/drawing/2014/main" id="{8AF0CB98-D797-4C0F-B534-B53FFEC580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7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2" name="Freeform 42">
              <a:extLst>
                <a:ext uri="{FF2B5EF4-FFF2-40B4-BE49-F238E27FC236}">
                  <a16:creationId xmlns:a16="http://schemas.microsoft.com/office/drawing/2014/main" id="{8161F426-0884-4746-ADFB-ED2E8ED5E2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4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3" name="Freeform 43">
              <a:extLst>
                <a:ext uri="{FF2B5EF4-FFF2-40B4-BE49-F238E27FC236}">
                  <a16:creationId xmlns:a16="http://schemas.microsoft.com/office/drawing/2014/main" id="{9FB6AEF0-B7A7-4C34-8BCA-D1939E5C0F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7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4" name="Freeform 44">
              <a:extLst>
                <a:ext uri="{FF2B5EF4-FFF2-40B4-BE49-F238E27FC236}">
                  <a16:creationId xmlns:a16="http://schemas.microsoft.com/office/drawing/2014/main" id="{C4221C70-D5F8-42A7-B0AF-B63791EFA8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4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5" name="Freeform 57">
              <a:extLst>
                <a:ext uri="{FF2B5EF4-FFF2-40B4-BE49-F238E27FC236}">
                  <a16:creationId xmlns:a16="http://schemas.microsoft.com/office/drawing/2014/main" id="{4C075733-AA99-4CB2-934E-9F42E6FC16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4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6" name="Freeform 58">
              <a:extLst>
                <a:ext uri="{FF2B5EF4-FFF2-40B4-BE49-F238E27FC236}">
                  <a16:creationId xmlns:a16="http://schemas.microsoft.com/office/drawing/2014/main" id="{266B426D-F5FB-456F-84B5-2DACFEA7AB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2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8" name="Round Diagonal Corner Rectangle 6">
            <a:extLst>
              <a:ext uri="{FF2B5EF4-FFF2-40B4-BE49-F238E27FC236}">
                <a16:creationId xmlns:a16="http://schemas.microsoft.com/office/drawing/2014/main" id="{083A6575-45DF-4CD7-8E7D-50E51B82D5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11680" y="808057"/>
            <a:ext cx="9370695" cy="5234394"/>
          </a:xfrm>
          <a:prstGeom prst="round2DiagRect">
            <a:avLst>
              <a:gd name="adj1" fmla="val 6185"/>
              <a:gd name="adj2" fmla="val 0"/>
            </a:avLst>
          </a:prstGeom>
          <a:solidFill>
            <a:srgbClr val="FFFFFF"/>
          </a:solidFill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m 4" descr="Diagrama&#10;&#10;Descrição gerada automaticamente">
            <a:extLst>
              <a:ext uri="{FF2B5EF4-FFF2-40B4-BE49-F238E27FC236}">
                <a16:creationId xmlns:a16="http://schemas.microsoft.com/office/drawing/2014/main" id="{EC1AAB8B-A9A7-B58B-9F29-9E92B47B0E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3664" y="1136606"/>
            <a:ext cx="6103062" cy="4577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24284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TM04033919[[fn=Circuito]]</Template>
  <TotalTime>23</TotalTime>
  <Words>277</Words>
  <Application>Microsoft Office PowerPoint</Application>
  <PresentationFormat>Widescreen</PresentationFormat>
  <Paragraphs>54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6" baseType="lpstr">
      <vt:lpstr>Arial</vt:lpstr>
      <vt:lpstr>Tw Cen MT</vt:lpstr>
      <vt:lpstr>Circuito</vt:lpstr>
      <vt:lpstr>Banco de dados</vt:lpstr>
      <vt:lpstr>Introdução</vt:lpstr>
      <vt:lpstr>Introdução</vt:lpstr>
      <vt:lpstr>Dados x informação </vt:lpstr>
      <vt:lpstr>SGBD</vt:lpstr>
      <vt:lpstr>Apresentação do PowerPoint</vt:lpstr>
      <vt:lpstr>Apresentação do PowerPoint</vt:lpstr>
      <vt:lpstr>Principais sgbds</vt:lpstr>
      <vt:lpstr>Classificação dos bd</vt:lpstr>
      <vt:lpstr>Bd Relacional</vt:lpstr>
      <vt:lpstr>Apresentação do PowerPoint</vt:lpstr>
      <vt:lpstr>Projeto de bd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Kevin De Souza Guimaraes</dc:creator>
  <cp:lastModifiedBy>Kevin De Souza Guimaraes</cp:lastModifiedBy>
  <cp:revision>1</cp:revision>
  <dcterms:created xsi:type="dcterms:W3CDTF">2024-10-16T20:22:10Z</dcterms:created>
  <dcterms:modified xsi:type="dcterms:W3CDTF">2024-10-16T20:45:54Z</dcterms:modified>
</cp:coreProperties>
</file>