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638" y="2681287"/>
            <a:ext cx="5790723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 dirty="0" err="1">
                <a:solidFill>
                  <a:srgbClr val="0F172A"/>
                </a:solidFill>
                <a:latin typeface="Poppins"/>
              </a:rPr>
              <a:t>Gestão</a:t>
            </a:r>
            <a:r>
              <a:rPr sz="4500" b="1" i="0" u="none" dirty="0">
                <a:solidFill>
                  <a:srgbClr val="0F172A"/>
                </a:solidFill>
                <a:latin typeface="Poppins"/>
              </a:rPr>
              <a:t> de </a:t>
            </a:r>
            <a:r>
              <a:rPr sz="4500" b="1" i="0" u="none" dirty="0" err="1">
                <a:solidFill>
                  <a:srgbClr val="0F172A"/>
                </a:solidFill>
                <a:latin typeface="Poppins"/>
              </a:rPr>
              <a:t>Defeitos</a:t>
            </a:r>
            <a:endParaRPr sz="45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38512" y="3729037"/>
            <a:ext cx="55149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Dominando o Bug Tracking: Do Relatório à Resolução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728912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5342" y="2957512"/>
            <a:ext cx="1052131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1E293B"/>
                </a:solidFill>
                <a:latin typeface="Poppins"/>
              </a:rPr>
              <a:t>1. Fundamentos da Gestão de Defeitos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4237" y="3919537"/>
            <a:ext cx="53435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O que é, para que serve e por que é vital no desenvolvimento de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19387"/>
            <a:ext cx="5334000" cy="2247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19387"/>
            <a:ext cx="5334000" cy="1990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2563EB"/>
                </a:solidFill>
                <a:latin typeface="Poppins"/>
              </a:rPr>
              <a:t>O que é um Bug e o Bug Tracking?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014662"/>
            <a:ext cx="498062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O que é um Defeito (Bug)?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50043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É qualquer divergência entre o comportamento esperado de um software e o seu comportamento real. Pode ser um erro lógico, falha de interface, exceção não tratada ou requisito não atendido.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014662"/>
            <a:ext cx="498062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O que é Bug Tracking?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500437"/>
            <a:ext cx="4743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É o processo sistemático de registrar, monitorar, classificar e gerenciar defeitos desde a sua identificação inicial até a sua correção definitiva e validação em ambiente de produção.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2563EB"/>
                </a:solidFill>
                <a:latin typeface="Poppins"/>
              </a:rPr>
              <a:t>Ciclo de Vida de um Defeito (Workflow)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2771775"/>
            <a:ext cx="10715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Novo (New / Submitted):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 testador identifica o erro e abre o ticket oficializando o reporte no sistema.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3200400"/>
            <a:ext cx="10715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Em Triagem (Triage):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 líder técnico ou QA master avalia se o bug é válido, duplicado ou fora do escopo.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629025"/>
            <a:ext cx="10715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Em Desenvolvimento (In Progress):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 desenvolvedor assume o ticket, investiga a causa raiz e aplica o patch de correção.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057650"/>
            <a:ext cx="10715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Pronto para Teste (Ready for Retest):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 correção é enviada para homologação/staging para validação do QA.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486275"/>
            <a:ext cx="10715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Fechado (Closed):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 defeito foi verificado com sucesso ou rejeitado por falta de reproducibilidade.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0511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3373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62362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9098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19612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728912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60458" y="2957512"/>
            <a:ext cx="8671083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1E293B"/>
                </a:solidFill>
                <a:latin typeface="Poppins"/>
              </a:rPr>
              <a:t>2. Anatomia de um Bug Perfeito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3337" y="3919537"/>
            <a:ext cx="45053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Como estruturar um report eficiente para acelerar a correção.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86025"/>
            <a:ext cx="3492549" cy="27146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486025"/>
            <a:ext cx="3492549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486025"/>
            <a:ext cx="3492549" cy="2714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2563EB"/>
                </a:solidFill>
                <a:latin typeface="Poppins"/>
              </a:rPr>
              <a:t>Anatomia de um Bom Bug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295650"/>
            <a:ext cx="18002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Identificação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781425"/>
            <a:ext cx="299724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Título Claro: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Resumo direto do problema (Módulo + Ação + Erro). Ex: "Tela de Login: Botão Entrar trava ao usar e-mail inválido".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295650"/>
            <a:ext cx="166020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Reprodução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781425"/>
            <a:ext cx="29972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Passos (Steps):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Roteiro exato, passo a passo, para que qualquer pessoa consiga reproduzir a falha sem ambiguidade.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749" y="3295650"/>
            <a:ext cx="144018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Evidências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3781425"/>
            <a:ext cx="29972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Anexos: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Capturas de tela (prints), gravações de vídeo da tela, logs do console e payloads de requisições HTTP.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449" y="2781300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749" y="2781300"/>
            <a:ext cx="3905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728912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5521" y="2957512"/>
            <a:ext cx="766095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1E293B"/>
                </a:solidFill>
                <a:latin typeface="Poppins"/>
              </a:rPr>
              <a:t>3. Severidade vs. Prioridade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4312" y="3919537"/>
            <a:ext cx="4143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Diferenciando o impacto técnico da urgência do negócio.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2563EB"/>
                </a:solidFill>
                <a:latin typeface="Poppins"/>
              </a:rPr>
              <a:t>Severidade x Prioridade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938462"/>
          <a:ext cx="11048998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9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oppins"/>
                        </a:rPr>
                        <a:t>Dimensão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oppins"/>
                        </a:rPr>
                        <a:t>Conceito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oppins"/>
                        </a:rPr>
                        <a:t>Exemplo Prático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Severidade (Impacto Técnico)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Mede o grau de dano técnico causado pelo defeito no sistema (Blocante, Crítico, Maior, Menor).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O sistema fecha sozinho (Crash) ao abrir a tela de pagamentos. (Severidade Alta).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Prioridade (Urgência de Negócio)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Mede a urgência com que o negócio exige que o defeito seja corrigido (Alta, Média, Baixa).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Um erro de digitação no logo da empresa na home page (Severidade Baixa, mas Prioridade Alta se for lançamento).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457575"/>
            <a:ext cx="2037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608808" y="3457575"/>
            <a:ext cx="416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71382" y="3457575"/>
            <a:ext cx="484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095750"/>
            <a:ext cx="2037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08808" y="4095750"/>
            <a:ext cx="416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71382" y="4095750"/>
            <a:ext cx="484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733925"/>
            <a:ext cx="20373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8808" y="4733925"/>
            <a:ext cx="4162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71382" y="4733925"/>
            <a:ext cx="484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75"/>
            <a:ext cx="3492549" cy="2828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428875"/>
            <a:ext cx="3492549" cy="2828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428875"/>
            <a:ext cx="3492549" cy="2828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2563EB"/>
                </a:solidFill>
                <a:latin typeface="Poppins"/>
              </a:rPr>
              <a:t>Ferramentas de Gestão (Bug Tracking Systems)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238500"/>
            <a:ext cx="186023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Atlassian Jira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724275"/>
            <a:ext cx="299724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O padrão da indústria para metodologias ágeis (Scrum/Kanban). Altamente customizável, fluxos complexos e forte integração com Git.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238500"/>
            <a:ext cx="2930366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GitHub / GitLab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724275"/>
            <a:ext cx="299724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Excelente para equipes de desenvolvimento integradas. Permite vincular bugs diretamente a commits, branches e pull requests.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749" y="3238500"/>
            <a:ext cx="3147112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Azure DevOps / Bugzilla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4095750"/>
            <a:ext cx="29972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Soluções tradicionais robustas focadas em rastreabilidade corporativa estrita, relatórios avançados e conformidade.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724150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449" y="2724150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749" y="272415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2563EB"/>
                </a:solidFill>
                <a:latin typeface="Poppins"/>
              </a:rPr>
              <a:t>Boas Práticas na Gestão de Defeitos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2986087"/>
            <a:ext cx="10715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Evite duplicidades: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Faça buscas na base de dados antes de abrir um novo bug para evitar retrabalho da equipe de triagem.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3414712"/>
            <a:ext cx="10715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Comunicação fluida: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QA e Desenvolvedores devem trabalhar cooperativamente, nunca de forma antagonista.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843337"/>
            <a:ext cx="10715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Acompanhe métricas: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Monitore taxas de rejeição de bugs, densidade de defeitos por módulo e tempo médio de resolução (MTTR).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271962"/>
            <a:ext cx="10715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Retroalimentação: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Utilize os aprendizados dos bugs encontrados para melhorar o processo de especificação de requisitos e testes unitários.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019425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48050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7667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0530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614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Lato</vt:lpstr>
      <vt:lpstr>Poppins</vt:lpstr>
      <vt:lpstr>Poppins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Kevin De Souza Guimaraes</cp:lastModifiedBy>
  <cp:revision>2</cp:revision>
  <dcterms:created xsi:type="dcterms:W3CDTF">2013-01-27T09:14:16Z</dcterms:created>
  <dcterms:modified xsi:type="dcterms:W3CDTF">2026-09-17T01:07:00Z</dcterms:modified>
  <cp:category/>
</cp:coreProperties>
</file>