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</ns0:sldIdLst>
  <ns0:sldSz cx="12192000" cy="6858000" type="screen4x3"/>
  <ns0:notesSz cx="6858000" cy="9144000"/>
  <ns0:embeddedFontLst>
    <ns0:embeddedFont>
      <ns0:font typeface="Inter"/>
      <ns0:bold ns1:id="rIdFont25"/>
      <ns0:italic ns1:id="rIdFont26"/>
      <ns0:regular ns1:id="rIdFont2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Font25" Type="http://schemas.openxmlformats.org/officeDocument/2006/relationships/font" Target="fonts/16545d61-9970-49dc-b017-b2a40eef886e.fntdata" /><ns0:Relationship Id="rIdFont26" Type="http://schemas.openxmlformats.org/officeDocument/2006/relationships/font" Target="fonts/88b9f12a-725b-4814-8486-a9a5a3fcc644.fntdata" /><ns0:Relationship Id="rIdFont27" Type="http://schemas.openxmlformats.org/officeDocument/2006/relationships/font" Target="fonts/aca514a1-df87-4ae8-9230-39f8587dc9c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86930"/>
            <a:ext cx="9525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CONTINUAÇÃO PRÁTICA: NINJAFORGE, SENAI &amp; APP_SCHOOL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901255"/>
            <a:ext cx="10001250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Inter"/>
              </a:rPr>
              <a:t>Depois do teste, e agora?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699420"/>
            <a:ext cx="771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Vocês já testaram e encontraram defeitos. Agora vamos aprender a decidir o que fazer com os resultados.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43262"/>
            <a:ext cx="1843980" cy="904875"/>
          </a:xfrm>
          <a:prstGeom prst="roundRect">
            <a:avLst>
              <a:gd name="adj" fmla="val 12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91730" y="3243262"/>
            <a:ext cx="1843980" cy="904875"/>
          </a:xfrm>
          <a:prstGeom prst="roundRect">
            <a:avLst>
              <a:gd name="adj" fmla="val 12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73860" y="3243262"/>
            <a:ext cx="1843980" cy="904875"/>
          </a:xfrm>
          <a:prstGeom prst="roundRect">
            <a:avLst>
              <a:gd name="adj" fmla="val 12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55991" y="3243262"/>
            <a:ext cx="1843980" cy="904875"/>
          </a:xfrm>
          <a:prstGeom prst="roundRect">
            <a:avLst>
              <a:gd name="adj" fmla="val 12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38121" y="3243262"/>
            <a:ext cx="1843980" cy="904875"/>
          </a:xfrm>
          <a:prstGeom prst="roundRect">
            <a:avLst>
              <a:gd name="adj" fmla="val 12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980" y="361950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110" y="361950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241" y="3619500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371" y="361950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865" y="3443287"/>
            <a:ext cx="1714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420" y="3443287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126" y="3443287"/>
            <a:ext cx="1714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3681" y="3443287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5812" y="3443287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381000" y="6210300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Inter"/>
              </a:rPr>
              <a:t>O teste não termina quando encontramos um defeito.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CICLO DE VIDA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 trabalho de uma equipe de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010" y="3786187"/>
            <a:ext cx="189515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Requisitos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6141" y="3786187"/>
            <a:ext cx="189515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Planejamento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271" y="3786187"/>
            <a:ext cx="189515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Execução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0402" y="3786187"/>
            <a:ext cx="189515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Defeitos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2532" y="3786187"/>
            <a:ext cx="189515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Reteste / Regressão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7512"/>
            <a:ext cx="5343525" cy="1781175"/>
          </a:xfrm>
          <a:prstGeom prst="roundRect">
            <a:avLst>
              <a:gd name="adj" fmla="val 85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2928937"/>
            <a:ext cx="5324475" cy="1838325"/>
          </a:xfrm>
          <a:prstGeom prst="roundRect">
            <a:avLst>
              <a:gd name="adj" fmla="val 829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643312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948112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4252912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3605212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3948112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4291012"/>
            <a:ext cx="1333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DINÂMICA DE CORREÇÃO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Encontrar um defeito não é o fim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271837"/>
            <a:ext cx="618827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 Cenário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233737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O que precisamos verificar?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624262"/>
            <a:ext cx="5893593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Teste de cadastro encontrou um erro.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929062"/>
            <a:ext cx="5893593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O desenvolvedor aplica a correção.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233862"/>
            <a:ext cx="5893593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F4444"/>
                </a:solidFill>
                <a:latin typeface="Inter"/>
              </a:rPr>
              <a:t>Podemos marcar como resolvido direto? Não!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586162"/>
            <a:ext cx="5629275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A correção realmente funcionou?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929062"/>
            <a:ext cx="5629275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O problema original desapareceu?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4271962"/>
            <a:ext cx="5629275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A correção afetou outras funcionalidades?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72175" y="2628900"/>
            <a:ext cx="5610225" cy="24384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248025"/>
            <a:ext cx="5057775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3800475"/>
            <a:ext cx="5057775" cy="438150"/>
          </a:xfrm>
          <a:prstGeom prst="roundRect">
            <a:avLst>
              <a:gd name="adj" fmla="val 1739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352925"/>
            <a:ext cx="5057775" cy="438150"/>
          </a:xfrm>
          <a:prstGeom prst="roundRect">
            <a:avLst>
              <a:gd name="adj" fmla="val 1739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CONCEITO-CHAVE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Reteste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14700"/>
            <a:ext cx="51530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É executar novamente um teste que falhou anteriormente após uma correção.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000500"/>
            <a:ext cx="51530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Objetivo: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verificar se o defeito específico foi realmente eliminado do sistema.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2905125"/>
            <a:ext cx="59436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Exemplo Prático: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2700" y="3362325"/>
            <a:ext cx="49244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Teste: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Cadastrar produto com preço negativo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3914775"/>
            <a:ext cx="49244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Inter"/>
              </a:rPr>
              <a:t>Resultado Anterior:</a:t>
            </a:r>
            <a:r>
              <a:rPr b="0" sz="1200" i="0" u="none">
                <a:solidFill>
                  <a:srgbClr val="991B1B"/>
                </a:solidFill>
                <a:latin typeface="Inter"/>
              </a:rPr>
              <a:t> ❌ Aceitou -R$ 50,00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700" y="4467225"/>
            <a:ext cx="49244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Inter"/>
              </a:rPr>
              <a:t>Novo Reteste:</a:t>
            </a:r>
            <a:r>
              <a:rPr b="0" sz="1200" i="0" u="none">
                <a:solidFill>
                  <a:srgbClr val="166534"/>
                </a:solidFill>
                <a:latin typeface="Inter"/>
              </a:rPr>
              <a:t> ✅ Rejeitou o valor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3237"/>
            <a:ext cx="53721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43237"/>
            <a:ext cx="53721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614737"/>
            <a:ext cx="12382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871912"/>
            <a:ext cx="1238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129087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3614737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3871912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4129087"/>
            <a:ext cx="123825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DIFERENCIAÇÃO CRÍTICA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7225"/>
            <a:ext cx="11582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Reteste vs. Teste de Regressão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281362"/>
            <a:ext cx="64258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Reteste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3281362"/>
            <a:ext cx="5743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Regressão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595687"/>
            <a:ext cx="6119812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Verifica a correção do defeito.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852862"/>
            <a:ext cx="6119812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Foca estritamente no problema reportado.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110037"/>
            <a:ext cx="6119812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Reexecuta o teste que falhou.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595687"/>
            <a:ext cx="5743575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Verifica impactos colaterais da alteração.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3852862"/>
            <a:ext cx="5743575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Envolve outras funcionalidades correlatas.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4110037"/>
            <a:ext cx="5743575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Executa testes que já funcionavam antes.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4662"/>
            <a:ext cx="5305425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9825" y="2957512"/>
            <a:ext cx="5362575" cy="1781175"/>
          </a:xfrm>
          <a:prstGeom prst="roundRect">
            <a:avLst>
              <a:gd name="adj" fmla="val 855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EFEITO COLATERAL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Uma correção pode criar outro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290887"/>
            <a:ext cx="623827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O que acontece nos bastidores: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3262312"/>
            <a:ext cx="5667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Inter"/>
              </a:rPr>
              <a:t>Conclusão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662362"/>
            <a:ext cx="48482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FFFFF"/>
                </a:solidFill>
                <a:latin typeface="Inter"/>
              </a:rPr>
              <a:t>Corrigir um defeito não garante que o sistema continua funcionando corretamente em outras partes. É por isso que o teste de regressão é indispensável.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633787"/>
            <a:ext cx="5941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Antes: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Cadastro aceitava CPF inválido 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929062"/>
            <a:ext cx="5941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Dev corrige: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Cadastro passa a validar CPF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224337"/>
            <a:ext cx="5941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F4444"/>
                </a:solidFill>
                <a:latin typeface="Inter"/>
              </a:rPr>
              <a:t>Efeito colateral:</a:t>
            </a:r>
            <a:r>
              <a:rPr b="0" sz="1125" i="0" u="none">
                <a:solidFill>
                  <a:srgbClr val="EF4444"/>
                </a:solidFill>
                <a:latin typeface="Inter"/>
              </a:rPr>
              <a:t> Módulo de Edição de aluno quebra e não salva 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24212"/>
            <a:ext cx="3530649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128962"/>
            <a:ext cx="3530649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28962"/>
            <a:ext cx="3530649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381000" y="6200775"/>
            <a:ext cx="1295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Qual deles deve receber mais atenção? Aqui entram Severidade e Prioridade.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TRIAGEM DE DEFEITOS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Todos os defeitos são iguais?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414712"/>
            <a:ext cx="3244899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Defeito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1249" y="3319462"/>
            <a:ext cx="32448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Inter"/>
              </a:rPr>
              <a:t>Defeito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2399" y="3319462"/>
            <a:ext cx="32448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Inter"/>
              </a:rPr>
              <a:t>Defeito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690937"/>
            <a:ext cx="410891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Logo está 5 pixels desalinhada.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774" y="3595687"/>
            <a:ext cx="338714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Usuário comum consegue acessar a área administrativa.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1924" y="3595687"/>
            <a:ext cx="338714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Relatório financeiro apresenta valor incorreto.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0275" y="2905125"/>
            <a:ext cx="5572125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076700"/>
            <a:ext cx="5095875" cy="504825"/>
          </a:xfrm>
          <a:prstGeom prst="roundRect">
            <a:avLst>
              <a:gd name="adj" fmla="val 2264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257675"/>
            <a:ext cx="104775" cy="142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IMPACTO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Severidade = impacto do defeito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14675"/>
            <a:ext cx="51911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 severidade avalia o quanto o defeito prejudica o funcionamento técnico ou funcional do sistema, independentemente de uso comercial imediato.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143250"/>
            <a:ext cx="59436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Exemplos de Escala: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238625"/>
            <a:ext cx="5965031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Inter"/>
              </a:rPr>
              <a:t>Foca estritamente no dano técnico causado.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3486150"/>
            <a:ext cx="59436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🔹 Texto desalinhado: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Baixa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781425"/>
            <a:ext cx="59436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🔹 Campo não aceita dado específico: </a:t>
            </a:r>
            <a:r>
              <a:rPr b="1" sz="1125" i="0" u="none">
                <a:solidFill>
                  <a:srgbClr val="D97706"/>
                </a:solidFill>
                <a:latin typeface="Inter"/>
              </a:rPr>
              <a:t>Média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4076700"/>
            <a:ext cx="59436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🔹 Relatório com dados incorretos: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Alta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4371975"/>
            <a:ext cx="59436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🔹 Sistema não permite login / Dados vazados: </a:t>
            </a:r>
            <a:r>
              <a:rPr b="1" sz="1125" i="0" u="none">
                <a:solidFill>
                  <a:srgbClr val="DC2626"/>
                </a:solidFill>
                <a:latin typeface="Inter"/>
              </a:rPr>
              <a:t>Crítica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8006"/>
            <a:ext cx="5334000" cy="1500187"/>
          </a:xfrm>
          <a:prstGeom prst="roundRect">
            <a:avLst>
              <a:gd name="adj" fmla="val 101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98006"/>
            <a:ext cx="5334000" cy="1500187"/>
          </a:xfrm>
          <a:prstGeom prst="roundRect">
            <a:avLst>
              <a:gd name="adj" fmla="val 101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URGÊNCIA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Prioridade = urgência para corrigir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374231"/>
            <a:ext cx="627578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Cenário 1: Alta Prioridade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679031"/>
            <a:ext cx="4876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Erro no botão "Finalizar compra" em produção, afetando todos os usuários gerando perda financeira direta. </a:t>
            </a:r>
            <a:r>
              <a:t>
</a:t>
            </a:r>
            <a:r>
              <a:rPr b="1" sz="1125" i="0" u="none">
                <a:solidFill>
                  <a:srgbClr val="DC2626"/>
                </a:solidFill>
                <a:latin typeface="Inter"/>
              </a:rPr>
              <a:t>→ Urgência máxima.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374231"/>
            <a:ext cx="5667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Cenário 2: Baixa Prioridade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679031"/>
            <a:ext cx="4876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Erro visual no rodapé de uma tela antiga que será completamente substituída amanhã por outra equipe. </a:t>
            </a:r>
            <a:r>
              <a:t>
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→ Urgência baixa.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24137"/>
            <a:ext cx="10972800" cy="2324100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624137"/>
          <a:ext cx="10963273" cy="23241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185469"/>
                <a:gridCol w="2900213"/>
                <a:gridCol w="2877591"/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Defeito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Severidade (Impacto)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Prioridade (Urgência)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Botão desalinhado na home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Baixa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Baixa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Erro em relatório financeiro mensal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Inter"/>
                        </a:rPr>
                        <a:t>Alta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Inter"/>
                        </a:rPr>
                        <a:t>Alta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Falha em função pouco usada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Inter"/>
                        </a:rPr>
                        <a:t>Alta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97706"/>
                          </a:solidFill>
                          <a:latin typeface="Inter"/>
                        </a:rPr>
                        <a:t>Média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Erro visual em tela de apresentação amanhã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Baixa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Inter"/>
                        </a:rPr>
                        <a:t>Alta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MATRIZ 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7225"/>
            <a:ext cx="11582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Severidade ≠ Prioridade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5100"/>
            <a:ext cx="5334000" cy="1905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57500"/>
            <a:ext cx="5334000" cy="16002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3467100"/>
            <a:ext cx="14287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3743325"/>
            <a:ext cx="14287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4019550"/>
            <a:ext cx="142875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381000" y="6210300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Contar bugs não basta; é preciso entender o contexto de cada falha.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O MOMENTO DA DECISÃO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 agora, podemos aprovar o sistema?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981325"/>
            <a:ext cx="62757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Inter"/>
              </a:rPr>
              <a:t>Situação Típica: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295650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7F1D1D"/>
                </a:solidFill>
                <a:latin typeface="Inter"/>
              </a:rPr>
              <a:t>25 casos executados</a:t>
            </a:r>
            <a:r>
              <a:t>
</a:t>
            </a:r>
            <a:r>
              <a:rPr b="0" sz="1200" i="0" u="none">
                <a:solidFill>
                  <a:srgbClr val="7F1D1D"/>
                </a:solidFill>
                <a:latin typeface="Inter"/>
              </a:rPr>
              <a:t> 21 passaram | 4 falharam</a:t>
            </a:r>
            <a:r>
              <a:t>
</a:t>
            </a:r>
            <a:r>
              <a:rPr b="1" sz="1200" i="0" u="none">
                <a:solidFill>
                  <a:srgbClr val="7F1D1D"/>
                </a:solidFill>
                <a:latin typeface="Inter"/>
              </a:rPr>
              <a:t>4 defeitos encontrados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133850"/>
            <a:ext cx="5976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Inter"/>
              </a:rPr>
              <a:t>❌ Não podemos decidir apenas olhando a quantidade!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133725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 que devemos analisar?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448050"/>
            <a:ext cx="566737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Quais defeitos específicos foram achados?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724275"/>
            <a:ext cx="566737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Qual a severidade e prioridade deles?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000500"/>
            <a:ext cx="566737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Quais funcionalidades vitais foram afetadas?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4162"/>
            <a:ext cx="5343525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3052762"/>
            <a:ext cx="5324475" cy="1590675"/>
          </a:xfrm>
          <a:prstGeom prst="roundRect">
            <a:avLst>
              <a:gd name="adj" fmla="val 958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509962"/>
            <a:ext cx="12382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805237"/>
            <a:ext cx="1238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100512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395787"/>
            <a:ext cx="123825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PARÂMETROS DE QUALIDADE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Critérios para liberação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138487"/>
            <a:ext cx="618827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 sistema pode ser liberado quando: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6025" y="3357562"/>
            <a:ext cx="618827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FFFFFF"/>
                </a:solidFill>
                <a:latin typeface="Inter"/>
              </a:rPr>
              <a:t>Regra de Ouro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3365" y="3805237"/>
            <a:ext cx="5893593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FFFFFF"/>
                </a:solidFill>
                <a:latin typeface="Inter"/>
              </a:rPr>
              <a:t>Qualidade não significa necessariamente </a:t>
            </a:r>
            <a:r>
              <a:t>
</a:t>
            </a:r>
            <a:r>
              <a:rPr b="1" sz="1500" i="0" u="none">
                <a:solidFill>
                  <a:srgbClr val="FFFFFF"/>
                </a:solidFill>
                <a:latin typeface="Inter"/>
              </a:rPr>
              <a:t>“zero defeitos”</a:t>
            </a:r>
            <a:r>
              <a:rPr b="0" sz="1500" i="0" u="none">
                <a:solidFill>
                  <a:srgbClr val="FFFFFF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490912"/>
            <a:ext cx="5893593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Requisitos críticos atendidos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786187"/>
            <a:ext cx="5893593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Nenhum defeito crítico em aberto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081462"/>
            <a:ext cx="5893593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Testes obrigatórios executados e retestados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376737"/>
            <a:ext cx="5893593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Evidências devidamente registradas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34075" y="3276600"/>
            <a:ext cx="5648325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CONCEITO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 que é Homologação?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248025"/>
            <a:ext cx="51149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É a avaliação final para verificar se o sistema atende aos requisitos definidos e pode ser aceito pelo cliente ou equipe.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257675"/>
            <a:ext cx="6274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 equipe de QA deve conseguir responder com segurança: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3590925"/>
            <a:ext cx="51149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1" u="none">
                <a:solidFill>
                  <a:srgbClr val="0284C7"/>
                </a:solidFill>
                <a:latin typeface="Inter"/>
              </a:rPr>
              <a:t> “Com base nas evidências obtidas durante os testes, qual é a situação real do sistema?”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8962"/>
            <a:ext cx="3530649" cy="1066800"/>
          </a:xfrm>
          <a:prstGeom prst="roundRect">
            <a:avLst>
              <a:gd name="adj" fmla="val 1071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128962"/>
            <a:ext cx="3530649" cy="1066800"/>
          </a:xfrm>
          <a:prstGeom prst="roundRect">
            <a:avLst>
              <a:gd name="adj" fmla="val 10714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209925"/>
            <a:ext cx="3530649" cy="904875"/>
          </a:xfrm>
          <a:prstGeom prst="roundRect">
            <a:avLst>
              <a:gd name="adj" fmla="val 1263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86137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3386137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3467100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6219825"/>
            <a:ext cx="12954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Inter"/>
              </a:rPr>
              <a:t>Importante: qualquer parecer precisa ser rigorosamente justificado por evidências.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RELATÓRIO DE 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 parecer da equipe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367087"/>
            <a:ext cx="400889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Inter"/>
              </a:rPr>
              <a:t>APROVADO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33787"/>
            <a:ext cx="31496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66534"/>
                </a:solidFill>
                <a:latin typeface="Inter"/>
              </a:rPr>
              <a:t>Sistema atende plenamente aos critérios definidos.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3367087"/>
            <a:ext cx="400889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54D0E"/>
                </a:solidFill>
                <a:latin typeface="Inter"/>
              </a:rPr>
              <a:t>APROVADO COM RESSALVAS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3633787"/>
            <a:ext cx="31496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854D0E"/>
                </a:solidFill>
                <a:latin typeface="Inter"/>
              </a:rPr>
              <a:t>Existem problemas conhecidos, mas não impedem o uso.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3448050"/>
            <a:ext cx="3901975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Inter"/>
              </a:rPr>
              <a:t>NÃO APROVADO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024" y="3714750"/>
            <a:ext cx="38179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91B1B"/>
                </a:solidFill>
                <a:latin typeface="Inter"/>
              </a:rPr>
              <a:t>Problemas críticos comprometem a liberação.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14675"/>
            <a:ext cx="538162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9825" y="3138487"/>
            <a:ext cx="5362575" cy="1295400"/>
          </a:xfrm>
          <a:prstGeom prst="roundRect">
            <a:avLst>
              <a:gd name="adj" fmla="val 882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ESTUDO DE CASO PRÁTICO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7225"/>
            <a:ext cx="11582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Exemplo: App_School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314700"/>
            <a:ext cx="653831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Defeitos Encontrados: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0325" y="3328987"/>
            <a:ext cx="5781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Pergunta para a turma: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0325" y="3643312"/>
            <a:ext cx="50768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FFFFFF"/>
                </a:solidFill>
                <a:latin typeface="Inter"/>
              </a:rPr>
              <a:t>O sistema deveria ser liberado?</a:t>
            </a:r>
            <a:r>
              <a:t>
</a:t>
            </a:r>
            <a:r>
              <a:rPr b="0" sz="1125" i="0" u="none">
                <a:solidFill>
                  <a:srgbClr val="FFFFFF"/>
                </a:solidFill>
                <a:latin typeface="Inter"/>
              </a:rPr>
              <a:t> Qual defeito preocupa mais? O visual impede o uso? O que precisamos retestar?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619500"/>
            <a:ext cx="6226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DEF-001: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Senha incorreta permite acesso </a:t>
            </a:r>
            <a:r>
              <a:rPr b="1" sz="1050" i="0" u="none">
                <a:solidFill>
                  <a:srgbClr val="DC2626"/>
                </a:solidFill>
                <a:latin typeface="Inter"/>
              </a:rPr>
              <a:t>(Crítica)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857625"/>
            <a:ext cx="6226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DEF-002: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Nome aparece desalinhado </a:t>
            </a:r>
            <a:r>
              <a:rPr b="1" sz="1050" i="0" u="none">
                <a:solidFill>
                  <a:srgbClr val="0F172A"/>
                </a:solidFill>
                <a:latin typeface="Inter"/>
              </a:rPr>
              <a:t>(Baixa)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095750"/>
            <a:ext cx="6226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DEF-003: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Relatório apresenta valor incorreto </a:t>
            </a:r>
            <a:r>
              <a:rPr b="1" sz="1050" i="0" u="none">
                <a:solidFill>
                  <a:srgbClr val="0F172A"/>
                </a:solidFill>
                <a:latin typeface="Inter"/>
              </a:rPr>
              <a:t>(Alta)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95612"/>
            <a:ext cx="5343525" cy="1704975"/>
          </a:xfrm>
          <a:prstGeom prst="roundRect">
            <a:avLst>
              <a:gd name="adj" fmla="val 89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2900362"/>
            <a:ext cx="5324475" cy="1895475"/>
          </a:xfrm>
          <a:prstGeom prst="roundRect">
            <a:avLst>
              <a:gd name="adj" fmla="val 804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643312"/>
            <a:ext cx="1905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948112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252912"/>
            <a:ext cx="1905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ATIVIDADE PRÁTICA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Agora é com vocês!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271837"/>
            <a:ext cx="628828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Sistemas de Origem: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167062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Passos para cada dupla: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24262"/>
            <a:ext cx="5988843" cy="1905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NinjaForge 3D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929062"/>
            <a:ext cx="5988843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SENAI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233862"/>
            <a:ext cx="5988843" cy="1905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App_School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9875" y="3500437"/>
            <a:ext cx="95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FFFFF"/>
                </a:solidFill>
                <a:latin typeface="Inter"/>
              </a:rP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519487"/>
            <a:ext cx="5476875" cy="18097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FFFFF"/>
                </a:solidFill>
                <a:latin typeface="Inter"/>
              </a:rPr>
              <a:t>Classificar a severidade dos defeitos.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3776662"/>
            <a:ext cx="1238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FFFFF"/>
                </a:solidFill>
                <a:latin typeface="Inter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3795712"/>
            <a:ext cx="5476875" cy="180975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FFFFF"/>
                </a:solidFill>
                <a:latin typeface="Inter"/>
              </a:rPr>
              <a:t>Definir a prioridade de correção.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1300" y="4052887"/>
            <a:ext cx="1238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FFFFF"/>
                </a:solidFill>
                <a:latin typeface="Inter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4071937"/>
            <a:ext cx="5476875" cy="180975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FFFFF"/>
                </a:solidFill>
                <a:latin typeface="Inter"/>
              </a:rPr>
              <a:t>Explicar a decisão com base no negócio.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1300" y="4329112"/>
            <a:ext cx="1238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FFFFF"/>
                </a:solidFill>
                <a:latin typeface="Inter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5125" y="4348162"/>
            <a:ext cx="5476875" cy="180975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FFFFF"/>
                </a:solidFill>
                <a:latin typeface="Inter"/>
              </a:rPr>
              <a:t>Planejar o reteste e regressão.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2750"/>
            <a:ext cx="10972800" cy="1600200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952750"/>
          <a:ext cx="10963272" cy="16002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749426"/>
                <a:gridCol w="1405086"/>
                <a:gridCol w="1335583"/>
                <a:gridCol w="2003375"/>
                <a:gridCol w="2469802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ID Defeito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Severidade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Prioridade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Reteste Esperado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Regressão Necessária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DEF-01: Login aceita senha incorreta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[ ?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[ ?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[ ?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[ ?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DEF-02: Relatório com valor incorreto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[ ?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[ ?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[ ?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[ ?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DEF-03: Botão desalinhado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[ ?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[ ?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[ ?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Inter"/>
                        </a:rPr>
                        <a:t>[ ? 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FERRAMENTA DE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7225"/>
            <a:ext cx="115824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nter"/>
              </a:rPr>
              <a:t>Ficha de Análise de Defeitos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2037" y="4319587"/>
            <a:ext cx="2447925" cy="4572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33500" y="2081212"/>
            <a:ext cx="9525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Inter"/>
              </a:rPr>
              <a:t>DESAFIO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395537"/>
            <a:ext cx="100012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F8FAFC"/>
                </a:solidFill>
                <a:latin typeface="Inter"/>
              </a:rPr>
              <a:t>O sistema está pronto para ser entregue?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500437"/>
            <a:ext cx="9525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O desenvolvedor informou que todos os defeitos foram corrigidos. Produza o relatório final com evidências, retestes, análises e o seu parecer definitivo.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2746" y="4452937"/>
            <a:ext cx="252650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Justifique com Evidências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