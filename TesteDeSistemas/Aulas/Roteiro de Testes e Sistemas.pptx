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7.png"/><Relationship Id="rId9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2106215"/>
            <a:ext cx="35433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611040"/>
            <a:ext cx="11601450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Roteiro de Testes e Identificação de Problemas em Sistemas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081462"/>
            <a:ext cx="7620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64748B"/>
                </a:solidFill>
                <a:latin typeface="Inter"/>
              </a:rPr>
              <a:t>Metodologias estruturadas, planejamento de cenários, engenharia de testes de software e validação de APIs.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5334000" cy="22516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04925"/>
            <a:ext cx="5334000" cy="2251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Objetivos de Aprendizagem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0625" y="1600200"/>
            <a:ext cx="464058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Planejamento e Estruturação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5625" y="1600200"/>
            <a:ext cx="464058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Execução e Qualidade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1628775"/>
            <a:ext cx="2095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2009775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Compreender o conceito de roteiro de testes.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2426940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Elaborar casos de teste padronizados.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2844105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Planejar a execução sistemática de testes.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1628775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67525" y="2009775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Executar testes seguindo um roteiro rígido.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525" y="2426940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Identificar falhas e relatar defeitos encontrados.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525" y="2844105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Registrar evidências de forma profissional.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043112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460277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877442"/>
            <a:ext cx="1524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043112"/>
            <a:ext cx="1524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460277"/>
            <a:ext cx="15240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877442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0225"/>
            <a:ext cx="5334000" cy="22516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00225"/>
            <a:ext cx="5334000" cy="2251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O Paradigma do "Funciona na Minha Máquina"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304925"/>
            <a:ext cx="8629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Inter Medium"/>
              </a:rPr>
              <a:t>Pergunte para a turma: </a:t>
            </a:r>
            <a:r>
              <a:rPr b="0" sz="1500" i="1" u="none">
                <a:solidFill>
                  <a:srgbClr val="1E293B"/>
                </a:solidFill>
                <a:latin typeface="Inter Medium"/>
              </a:rPr>
              <a:t>"Como vocês sabem que um sistema está funcionando corretamente?"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095500"/>
            <a:ext cx="498062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Respostas Comuns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5625" y="2309812"/>
            <a:ext cx="464058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991B1B"/>
                </a:solidFill>
                <a:latin typeface="Plus Jakarta Sans"/>
              </a:rPr>
              <a:t>A Realidade Crítica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719387"/>
            <a:ext cx="47434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7F1D1D"/>
                </a:solidFill>
                <a:latin typeface="Inter"/>
              </a:rPr>
              <a:t>Um sistema pode abrir normalmente e ainda estar repleto de falhas lógicas graves. Exemplo: Sistema de login que aceita senha vazia ou e-mail inválido.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2505075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"Porque a interface abre."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2922240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"Porque não apresenta erro de tela."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3339405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"Porque salva dados no banco."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338387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38412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955577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372742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47800"/>
            <a:ext cx="11049000" cy="1085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19400"/>
            <a:ext cx="11049000" cy="19182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O que é um Roteiro de Testes?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1685925"/>
            <a:ext cx="105251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Inter Medium"/>
              </a:rPr>
              <a:t>Um roteiro de testes é um documento formal que descreve exatamente </a:t>
            </a:r>
            <a:r>
              <a:rPr b="1" sz="1500" i="0" u="none">
                <a:solidFill>
                  <a:srgbClr val="1E293B"/>
                </a:solidFill>
                <a:latin typeface="Inter"/>
              </a:rPr>
              <a:t>o que deve ser testado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, </a:t>
            </a:r>
            <a:r>
              <a:rPr b="1" sz="1500" i="0" u="none">
                <a:solidFill>
                  <a:srgbClr val="1E293B"/>
                </a:solidFill>
                <a:latin typeface="Inter"/>
              </a:rPr>
              <a:t>como deve ser testado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e </a:t>
            </a:r>
            <a:r>
              <a:rPr b="1" sz="1500" i="0" u="none">
                <a:solidFill>
                  <a:srgbClr val="1E293B"/>
                </a:solidFill>
                <a:latin typeface="Inter"/>
              </a:rPr>
              <a:t>qual resultado é esperado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pelo sistema.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14675"/>
            <a:ext cx="10691336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Exemplo Prático: Caso de Teste (CT-01)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24250"/>
            <a:ext cx="104584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Objetivo: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Realizar login com credenciais válidas.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798540"/>
            <a:ext cx="104584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Passos: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1. Abrir tela de login. 2. Informar e-mail válido. 3. Informar senha válida. 4. Clicar em Entrar.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168080"/>
            <a:ext cx="104584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Resultado Esperado: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Usuário redirecionado com sucesso para o Dashboard.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143250"/>
            <a:ext cx="1619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11049000" cy="355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Estrutura de um Caso de Teste Padrão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1314450"/>
            <a:ext cx="11029950" cy="353943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1314450"/>
          <a:ext cx="11029949" cy="3539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21546"/>
                <a:gridCol w="7708403"/>
              </a:tblGrid>
              <a:tr h="505632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Campo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Descrição da Propriedade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0563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Identificação unívoca do teste (ex: CT-02)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563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Objetivo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O comportamento específico que será validado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563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Pré-condição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O estado inicial obrigatório do sistema antes do teste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563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Passos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Ações executadas sequencialmente pelo testador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563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Resultado Esperado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O comportamento correto especificado nos requisitos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563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Aprovado, Reprovado ou Bloqueado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1025" y="1820167"/>
            <a:ext cx="33215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02571" y="1820167"/>
            <a:ext cx="7708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324992"/>
            <a:ext cx="33215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02571" y="2324992"/>
            <a:ext cx="7708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2829817"/>
            <a:ext cx="33215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02571" y="2829817"/>
            <a:ext cx="7708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334642"/>
            <a:ext cx="33215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02571" y="3334642"/>
            <a:ext cx="7708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1025" y="3839467"/>
            <a:ext cx="33215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2571" y="3839467"/>
            <a:ext cx="7708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344292"/>
            <a:ext cx="33215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02571" y="4344292"/>
            <a:ext cx="77084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47800"/>
            <a:ext cx="11049000" cy="8114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97335"/>
            <a:ext cx="11049000" cy="19030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619351"/>
            <a:ext cx="1977330" cy="485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6980" y="3619351"/>
            <a:ext cx="1977330" cy="485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7185" y="3619351"/>
            <a:ext cx="1977479" cy="4857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7540" y="3619351"/>
            <a:ext cx="1977330" cy="4857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7745" y="3619351"/>
            <a:ext cx="1977479" cy="485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Rastreabilidade: O que Testar?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1685925"/>
            <a:ext cx="1052512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E293B"/>
                </a:solidFill>
                <a:latin typeface="Inter Medium"/>
              </a:rPr>
              <a:t>Todo requisito funcional do sistema deve possuir </a:t>
            </a:r>
            <a:r>
              <a:rPr b="1" sz="1650" i="0" u="none">
                <a:solidFill>
                  <a:srgbClr val="1E293B"/>
                </a:solidFill>
                <a:latin typeface="Inter"/>
              </a:rPr>
              <a:t>pelo menos um teste associado</a:t>
            </a:r>
            <a:r>
              <a:rPr b="0" sz="1650" i="0" u="none">
                <a:solidFill>
                  <a:srgbClr val="1E293B"/>
                </a:solidFill>
                <a:latin typeface="Inter Medium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2792610"/>
            <a:ext cx="1064133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Exemplo: Requisito de Cadastro de Usuários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3202185"/>
            <a:ext cx="104584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Requisito: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O sistema deve permitir cadastrar novos usuários no banco de dados.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2821185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3524250" cy="21658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304925"/>
            <a:ext cx="3524250" cy="21658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1304925"/>
            <a:ext cx="3524250" cy="2165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Tipos de Testes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066925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Funcional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400300"/>
            <a:ext cx="30289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Valida se as regras de negócio e funções fundamentais operam conforme especificado.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2066925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Segurança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2400300"/>
            <a:ext cx="30289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Verifica vulnerabilidades, brechas de acesso e tentativas de burlar autenticação.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2066925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2400300"/>
            <a:ext cx="30289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Garante que entradas incorretas sejam rejeitadas com mensagens claras de erro.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581150"/>
            <a:ext cx="3810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1581150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1581150"/>
            <a:ext cx="381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3524250" cy="21658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304925"/>
            <a:ext cx="3524250" cy="21658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1304925"/>
            <a:ext cx="3524250" cy="2165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Anatomia de um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066925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F1239"/>
                </a:solidFill>
                <a:latin typeface="Plus Jakarta Sans"/>
              </a:rPr>
              <a:t>Falha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400300"/>
            <a:ext cx="30289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Anomalia visível percebida pelo usuário final durante a execução (ex: o sistema fecha sozinho).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2066925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2400E"/>
                </a:solidFill>
                <a:latin typeface="Plus Jakarta Sans"/>
              </a:rPr>
              <a:t>Defeito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2400300"/>
            <a:ext cx="30289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 erro encontrado estruturalmente no código-fonte (ex: consulta SQL incorreta).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2066925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Plus Jakarta Sans"/>
              </a:rPr>
              <a:t>Erro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2400300"/>
            <a:ext cx="30289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 engano conceitual ou lógico cometido pelo programador (ex: usar operador incorreto).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581150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1581150"/>
            <a:ext cx="3810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1581150"/>
            <a:ext cx="381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04925"/>
            <a:ext cx="5334000" cy="24668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22090"/>
            <a:ext cx="5334000" cy="1238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Exemplo Prático: Diagnóstico de Erro 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304925"/>
            <a:ext cx="53340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 SemiBold"/>
              </a:rPr>
              <a:t>Trecho de Código Analisado: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4200" y="1600200"/>
            <a:ext cx="4610576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Análise de Execução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009775"/>
            <a:ext cx="47434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Teste Realizado: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Idade =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284065"/>
            <a:ext cx="47434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Resultado Esperado: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Exibir "Maior de idade"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558355"/>
            <a:ext cx="47434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Resultado Obtido: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Nada acontece na tela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927895"/>
            <a:ext cx="47434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E11D48"/>
                </a:solidFill>
                <a:latin typeface="Inter SemiBold"/>
              </a:rPr>
              <a:t>Diagnóstico: Erro lógico de operador estrito (deveria ser &gt;=).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1628775"/>
            <a:ext cx="2381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9715"/>
            <a:ext cx="5334000" cy="26687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39255"/>
            <a:ext cx="5334000" cy="1452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Testes de Backend com Postman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304925"/>
            <a:ext cx="91630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 Postman permite testar regras de negócio e endpoints diretamente, sem depender da interface gráfica (GUI).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7775" y="2064990"/>
            <a:ext cx="458057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Métodos HTTP Principais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1769715"/>
            <a:ext cx="53340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 SemiBold"/>
              </a:rPr>
              <a:t>Exemplo de Payload de Requisição (POST):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093565"/>
            <a:ext cx="26670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52525" y="2474565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GET: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Consultar recursos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2891730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POST: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Enviar dados e criar registros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3308895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PUT / PATCH: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Atualizar registros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726060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DELETE: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Remover entidades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07902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925067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342233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759398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47800"/>
            <a:ext cx="11049000" cy="1085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24150"/>
            <a:ext cx="5334000" cy="22516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724150"/>
            <a:ext cx="5334000" cy="2251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Atividade Prática em Laboratório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685925"/>
            <a:ext cx="105251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Inter Medium"/>
              </a:rPr>
              <a:t>Divida a turma em grupos, utilize a API desenvolvida em arquitetura MVC e execute o desafio de cobertura de testes.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0625" y="3227933"/>
            <a:ext cx="464058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Desafio de Cenários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019425"/>
            <a:ext cx="4690586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Relatório de Evidências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256508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2525" y="3637508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Criar pelo menos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10 casos de teste válidos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054673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Criar pelo menos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5 casos de teste inválidos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048000"/>
            <a:ext cx="1619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67525" y="3429000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 que foi testado?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525" y="3846165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Resultado esperado vs. obtido.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525" y="4263330"/>
            <a:ext cx="44577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Possíveis falhas mapeadas.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670845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088010"/>
            <a:ext cx="1524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3462337"/>
            <a:ext cx="1524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3879502"/>
            <a:ext cx="15240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4296667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75" y="2148036"/>
            <a:ext cx="123825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25566" y="2652861"/>
            <a:ext cx="6940867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Plus Jakarta Sans"/>
              </a:rPr>
              <a:t>Programar é construir o sistema.</a:t>
            </a:r>
            <a:r>
              <a:t>
</a:t>
            </a:r>
            <a:r>
              <a:rPr b="1" sz="3300" i="0" u="none">
                <a:solidFill>
                  <a:srgbClr val="0F172A"/>
                </a:solidFill>
                <a:latin typeface="Plus Jakarta Sans"/>
              </a:rPr>
              <a:t> Testar é provar que ele funciona.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6012" y="4039641"/>
            <a:ext cx="74199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Inter Medium"/>
              </a:rPr>
              <a:t>"Se vocês desenvolvessem um sistema bancário, confiariam apenas em:</a:t>
            </a:r>
            <a:r>
              <a:t>
</a:t>
            </a:r>
            <a:r>
              <a:rPr b="0" sz="1650" i="1" u="none">
                <a:solidFill>
                  <a:srgbClr val="334155"/>
                </a:solidFill>
                <a:latin typeface="Inter Medium"/>
              </a:rPr>
              <a:t>'eu testei e funcionou aqui na minha máquina'</a:t>
            </a:r>
            <a:r>
              <a:rPr b="0" sz="1650" i="0" u="none">
                <a:solidFill>
                  <a:srgbClr val="334155"/>
                </a:solidFill>
                <a:latin typeface="Inter Medium"/>
              </a:rPr>
              <a:t>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