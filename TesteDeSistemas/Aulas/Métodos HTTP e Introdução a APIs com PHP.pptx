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880" y="1794569"/>
            <a:ext cx="2954238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232719"/>
            <a:ext cx="9501187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Space Grotesk"/>
              </a:rPr>
              <a:t>Métodos HTTP e Introdução a APIs com 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568005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Plus Jakarta Sans"/>
              </a:rPr>
              <a:t>Compreendendo a comunicação cliente-servidor, a arquitetura de requisições web e o desenvolvimento de serviços modernos.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755" y="1880294"/>
            <a:ext cx="158650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8225" y="4772917"/>
            <a:ext cx="190500" cy="15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53025" y="4758630"/>
            <a:ext cx="2190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0F172A"/>
                </a:solidFill>
                <a:latin typeface="Plus Jakarta Sans SemiBold"/>
              </a:rPr>
              <a:t>Material de Apoio e Aula Prática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52687"/>
            <a:ext cx="541020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452687"/>
            <a:ext cx="5410200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28637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1575" y="2728912"/>
            <a:ext cx="472059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Space Grotesk"/>
              </a:rPr>
              <a:t>O Cliente (Requisição)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090862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É a entidade responsável por iniciar a comunicação enviando um pedido ao servidor.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9425" y="2728912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Space Grotesk"/>
              </a:rPr>
              <a:t>O Servidor (Resposta)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090862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É a entidade que recebe o pedido, processa as regras de negócio e retorna um resultado.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57487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225" y="3662362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Exemplos: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Browsers (Chrome, Edge), Apps Mobile (Android, iOS), Postman, Scripts cURL ou outros servidores.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214812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Ação: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Envia requisições com intenções específicas (ex: consultar ou salvar dados).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757487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53225" y="3662362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Tecnologias: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Apache, Nginx, IIS executando scripts em PHP.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986212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Fluxo Interno: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Servidor PHP → Banco de Dados (MySQL) → Processamento → Resposta HTTP final.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57200"/>
            <a:ext cx="112109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Como Funciona uma Aplicação Web?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662362"/>
            <a:ext cx="11430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214812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662362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986212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060" y="1943100"/>
            <a:ext cx="2453729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0588" y="2381250"/>
            <a:ext cx="659082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Space Grotesk"/>
              </a:rPr>
              <a:t>O que é o Protocolo HTTP?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162300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64748B"/>
                </a:solidFill>
                <a:latin typeface="Plus Jakarta Sans"/>
              </a:rPr>
              <a:t>HyperText Transfer Protocol</a:t>
            </a:r>
            <a:r>
              <a:rPr sz="1500" b="0" i="0" u="none">
                <a:solidFill>
                  <a:srgbClr val="64748B"/>
                </a:solidFill>
                <a:latin typeface="Plus Jakarta Sans"/>
              </a:rPr>
              <a:t> — O idioma padrão para transferência de dados na World Wide Web.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407670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62250" y="4343400"/>
            <a:ext cx="6667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Toda a comunicação na Web é baseada no modelo estrito de </a:t>
            </a:r>
            <a:r>
              <a:rPr sz="1200" b="1" i="0" u="none">
                <a:solidFill>
                  <a:srgbClr val="64748B"/>
                </a:solidFill>
                <a:latin typeface="Plus Jakarta Sans"/>
              </a:rPr>
              <a:t>Requisição (Request)</a:t>
            </a:r>
            <a:r>
              <a:rPr sz="1200" b="0" i="0" u="none">
                <a:solidFill>
                  <a:srgbClr val="64748B"/>
                </a:solidFill>
                <a:latin typeface="Plus Jakarta Sans"/>
              </a:rPr>
              <a:t> e </a:t>
            </a:r>
            <a:r>
              <a:rPr sz="1200" b="1" i="0" u="none">
                <a:solidFill>
                  <a:srgbClr val="64748B"/>
                </a:solidFill>
                <a:latin typeface="Plus Jakarta Sans"/>
              </a:rPr>
              <a:t>Resposta (Response)</a:t>
            </a:r>
            <a:r>
              <a:rPr sz="1200" b="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02457"/>
            <a:ext cx="53721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2240607"/>
            <a:ext cx="564070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Estrutura da Requisição HTTP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2802582"/>
            <a:ext cx="53721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1. Método: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Define a intenção (GET, POST, PUT, DELETE, etc.).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179712"/>
            <a:ext cx="5372100" cy="491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2. URL / Endpoint: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Especifica o recurso desejado no servidor (ex: 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804939"/>
            <a:ext cx="5372100" cy="49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3. Headers (Cabeçalhos):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Metadados da chamada como , e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434482"/>
            <a:ext cx="53721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4. Body (Corpo):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O conteúdo útil enviado no envio ou atualização de dados (comum em JSON ou XML).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442543"/>
            <a:ext cx="911869" cy="238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5825" y="3823989"/>
            <a:ext cx="1158626" cy="23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72086"/>
            <a:ext cx="1240780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6580" y="4072086"/>
            <a:ext cx="665112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64568"/>
            <a:ext cx="11125200" cy="2967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28637"/>
            <a:ext cx="266700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2274093"/>
            <a:ext cx="11106150" cy="29479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2925" y="2274093"/>
          <a:ext cx="11106147" cy="2947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9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9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Método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Objetivo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Contém Body?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Altera Dados no BD?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Idempotente?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Consultar / Buscar dados existentes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Não (Leitura)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Criar / Enviar novos registros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 (Inserção)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97706"/>
                          </a:solidFill>
                          <a:latin typeface="Plus Jakarta Sans"/>
                        </a:rPr>
                        <a:t>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Substituir / Atualizar recurso completo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 (Edição)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33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9333EA"/>
                          </a:solidFill>
                          <a:latin typeface="Plus Jakarta Sans"/>
                        </a:rPr>
                        <a:t>PATCH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Atualizar parcialmente um registro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 (Edição)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Não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3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DELETE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Remover um registro especificado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Opcional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 (Remoção)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2925" y="2764631"/>
            <a:ext cx="1288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31776" y="2764631"/>
            <a:ext cx="3796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28084" y="2764631"/>
            <a:ext cx="186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89924" y="2764631"/>
            <a:ext cx="2369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59565" y="2764631"/>
            <a:ext cx="1789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3255168"/>
            <a:ext cx="1288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31776" y="3255168"/>
            <a:ext cx="3796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28084" y="3255168"/>
            <a:ext cx="186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89924" y="3255168"/>
            <a:ext cx="2369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859565" y="3255168"/>
            <a:ext cx="1789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2925" y="3745706"/>
            <a:ext cx="1288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31776" y="3745706"/>
            <a:ext cx="3796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28084" y="3745706"/>
            <a:ext cx="186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89924" y="3745706"/>
            <a:ext cx="2369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859565" y="3745706"/>
            <a:ext cx="1789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2925" y="4236243"/>
            <a:ext cx="1288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31776" y="4236243"/>
            <a:ext cx="3796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28084" y="4236243"/>
            <a:ext cx="186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89924" y="4236243"/>
            <a:ext cx="2369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59565" y="4236243"/>
            <a:ext cx="1789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2925" y="4726781"/>
            <a:ext cx="12888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831776" y="4726781"/>
            <a:ext cx="3796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28084" y="4726781"/>
            <a:ext cx="18618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89924" y="4726781"/>
            <a:ext cx="23696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859565" y="4726781"/>
            <a:ext cx="17895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"/>
            <a:ext cx="112776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Os Métodos HTTP Mais Utilizados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70683"/>
            <a:ext cx="5410200" cy="275480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70683"/>
            <a:ext cx="5410200" cy="27548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28637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425" y="2646908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Space Grotesk"/>
              </a:rPr>
              <a:t>Método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008858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Finalidade: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Leitura e consulta de dados.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51758"/>
            <a:ext cx="4857750" cy="46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Parâmetros: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Enviados abertamente na URL via Query String (ex: 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929062"/>
            <a:ext cx="4857750" cy="234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PHP: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Acessado via superglobal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277766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Regra: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Seguro, pode ser favoritado, compartilhado e armazenado em cache.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9425" y="2646908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6A34A"/>
                </a:solidFill>
                <a:latin typeface="Space Grotesk"/>
              </a:rPr>
              <a:t>Método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008858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Finalidade: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Envio de dados, formulários e cadastro.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351758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Parâmetros: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Ocultos no corpo (Body) da requisição, sem poluir a URL.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923258"/>
            <a:ext cx="4857750" cy="234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PHP: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Acessado via superglobal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4271962"/>
            <a:ext cx="485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Regra: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Permite envio de arquivos (upload) e dados confidenciais.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75483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589883"/>
            <a:ext cx="1652141" cy="238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100" y="3938587"/>
            <a:ext cx="1076325" cy="2381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2675483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1100" y="3932783"/>
            <a:ext cx="1323082" cy="2381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457200"/>
            <a:ext cx="112776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Detalhando: GET vs 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05781"/>
            <a:ext cx="5410200" cy="30844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205781"/>
            <a:ext cx="5410200" cy="3084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28637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425" y="2482006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Space Grotesk"/>
              </a:rPr>
              <a:t>PUT vs 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843956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PUT (Substituição Total):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Exige o recurso inteiro para atualizar. Se faltar um campo, este pode ser sobrescrito como nulo.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15456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PATCH (Modificação Parcial):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Envia apenas os campos que alteraram (ex: atualizar apenas o telefone do cliente).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082206"/>
            <a:ext cx="4857750" cy="234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No PHP: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Não existe nativo. Lê-se o corpo manualmente: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0850" y="2482006"/>
            <a:ext cx="4810601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Space Grotesk"/>
              </a:rPr>
              <a:t>Método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2843956"/>
            <a:ext cx="4857750" cy="468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Objetivo: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Excluir um recurso específico do sistema (ex: 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427065"/>
            <a:ext cx="4857750" cy="697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475569"/>
                </a:solidFill>
                <a:latin typeface="Plus Jakarta Sans"/>
              </a:rPr>
              <a:t>Boas </a:t>
            </a:r>
            <a:r>
              <a:rPr sz="1200" b="1" i="0" u="none" dirty="0" err="1">
                <a:solidFill>
                  <a:srgbClr val="475569"/>
                </a:solidFill>
                <a:latin typeface="Plus Jakarta Sans"/>
              </a:rPr>
              <a:t>Práticas</a:t>
            </a:r>
            <a:r>
              <a:rPr sz="1200" b="1" i="0" u="none" dirty="0">
                <a:solidFill>
                  <a:srgbClr val="475569"/>
                </a:solidFill>
                <a:latin typeface="Plus Jakarta Sans"/>
              </a:rPr>
              <a:t>: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Nunca utilize para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exclusão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(ex: ), pois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robôs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busca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ou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cliques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acidentais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podem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apagar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dados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sem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intenção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238773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Segurança: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APIs modernas exigem o verbo DELETE e verificação de autenticação prévia.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510581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850" y="4091731"/>
            <a:ext cx="582810" cy="238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440435"/>
            <a:ext cx="4527649" cy="47252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2510581"/>
            <a:ext cx="180975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457200"/>
            <a:ext cx="112776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Métodos PUT, PATCH e DELETE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26443"/>
            <a:ext cx="3555950" cy="3443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026443"/>
            <a:ext cx="3555950" cy="3443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026443"/>
            <a:ext cx="3555950" cy="34432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28637"/>
            <a:ext cx="33337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264568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1525" y="2950368"/>
            <a:ext cx="131016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Método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293268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Retorna exatamente os mesmos cabeçalhos (Headers) de uma requisição GET, mas </a:t>
            </a:r>
            <a:r>
              <a:rPr sz="1125" b="1" i="0" u="none">
                <a:solidFill>
                  <a:srgbClr val="64748B"/>
                </a:solidFill>
                <a:latin typeface="Plus Jakarta Sans"/>
              </a:rPr>
              <a:t>sem o corpo (Body) da resposta</a:t>
            </a:r>
            <a:r>
              <a:rPr sz="1125" b="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145756"/>
            <a:ext cx="962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F172A"/>
                </a:solidFill>
                <a:latin typeface="Plus Jakarta Sans SemiBold"/>
              </a:rPr>
              <a:t>Uso Principal: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474368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Verificar a existência de arquivos grandes, conferir o tamanho () ou validar links antes do download.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075" y="2264568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6075" y="2950368"/>
            <a:ext cx="163020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Método OPTIONS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075" y="3293268"/>
            <a:ext cx="30797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Solicita ao servidor a lista de métodos HTTP permitidos para uma determinada URL.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3931443"/>
            <a:ext cx="962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F172A"/>
                </a:solidFill>
                <a:latin typeface="Plus Jakarta Sans SemiBold"/>
              </a:rPr>
              <a:t>Uso Principal: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075" y="4260056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Essencial para chamadas </a:t>
            </a:r>
            <a:r>
              <a:rPr sz="1125" b="1" i="0" u="none">
                <a:solidFill>
                  <a:srgbClr val="64748B"/>
                </a:solidFill>
                <a:latin typeface="Plus Jakarta Sans"/>
              </a:rPr>
              <a:t>CORS (Cross-Origin Resource Sharing)</a:t>
            </a:r>
            <a:r>
              <a:rPr sz="1125" b="0" i="0" u="none">
                <a:solidFill>
                  <a:srgbClr val="64748B"/>
                </a:solidFill>
                <a:latin typeface="Plus Jakarta Sans"/>
              </a:rPr>
              <a:t> na comunicação entre navegadores e APIs externas.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2264568"/>
            <a:ext cx="514350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40625" y="2950368"/>
            <a:ext cx="241030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Importância no 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3293268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Esses métodos ajudam a otimizar o tráfego da rede e garantem a segurança na integração entre aplicações web modernas.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4145756"/>
            <a:ext cx="15621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F172A"/>
                </a:solidFill>
                <a:latin typeface="Plus Jakarta Sans SemiBold"/>
              </a:rPr>
              <a:t>Exemplo de Resposta: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87" y="2407443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2650" y="4688681"/>
            <a:ext cx="1251793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8950" y="2407443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3500" y="2407443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0625" y="4474368"/>
            <a:ext cx="2409378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1075" y="457200"/>
            <a:ext cx="112109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Métodos Auxiliares: HEAD e OPTIONS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95375"/>
            <a:ext cx="11125200" cy="5305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28637"/>
            <a:ext cx="238125" cy="266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3400" y="4510087"/>
            <a:ext cx="11125200" cy="7239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3900" y="4643437"/>
            <a:ext cx="1074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Lembrete importante aos alunos: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O método HTTP NÃO executa o banco de dados diretamente! Ele apenas sinaliza a intenção. Quem executa as instruções SQL é o código Backend (Controller e Model no PHP).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4510087"/>
            <a:ext cx="38100" cy="7239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5825" y="457200"/>
            <a:ext cx="113061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Mapeamento: CRUD x Verbos HTTP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07246"/>
            <a:ext cx="5410200" cy="13632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38337"/>
            <a:ext cx="54102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28637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1938337"/>
            <a:ext cx="5410200" cy="463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O PHP armazena as informações do ambiente e do servidor na variável superglobal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515641"/>
            <a:ext cx="541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Para capturar o método utilizado na requisição atual, utilizamos: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8275" y="2176462"/>
            <a:ext cx="829567" cy="238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868066"/>
            <a:ext cx="3214985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5325" y="3369171"/>
            <a:ext cx="5086350" cy="1039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0F172A"/>
                </a:solidFill>
                <a:latin typeface="monospace"/>
              </a:rPr>
              <a:t>switch($_SERVER['REQUEST_METHOD']) {</a:t>
            </a:r>
            <a:r>
              <a:t>
</a:t>
            </a:r>
            <a:r>
              <a:rPr sz="975" b="0" i="0" u="none">
                <a:solidFill>
                  <a:srgbClr val="0F172A"/>
                </a:solidFill>
                <a:latin typeface="monospace"/>
              </a:rPr>
              <a:t>   case 'GET': listar(); break;</a:t>
            </a:r>
            <a:r>
              <a:t>
</a:t>
            </a:r>
            <a:r>
              <a:rPr sz="975" b="0" i="0" u="none">
                <a:solidFill>
                  <a:srgbClr val="0F172A"/>
                </a:solidFill>
                <a:latin typeface="monospace"/>
              </a:rPr>
              <a:t>   case 'POST': inserir(); break;</a:t>
            </a:r>
            <a:r>
              <a:t>
</a:t>
            </a:r>
            <a:r>
              <a:rPr sz="975" b="0" i="0" u="none">
                <a:solidFill>
                  <a:srgbClr val="0F172A"/>
                </a:solidFill>
                <a:latin typeface="monospace"/>
              </a:rPr>
              <a:t>   case 'PUT': atualizar(); break;</a:t>
            </a:r>
            <a:r>
              <a:t>
</a:t>
            </a:r>
            <a:r>
              <a:rPr sz="975" b="0" i="0" u="none">
                <a:solidFill>
                  <a:srgbClr val="0F172A"/>
                </a:solidFill>
                <a:latin typeface="monospace"/>
              </a:rPr>
              <a:t>   case 'DELETE': deletar(); break;</a:t>
            </a:r>
            <a:r>
              <a:t>
</a:t>
            </a:r>
            <a:r>
              <a:rPr sz="975" b="0" i="0" u="none">
                <a:solidFill>
                  <a:srgbClr val="0F172A"/>
                </a:solidFill>
                <a:latin typeface="monospace"/>
              </a:rPr>
              <a:t> }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925" y="1947862"/>
            <a:ext cx="5391150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1075" y="457200"/>
            <a:ext cx="112109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 Como o PHP Descobre o Método HTTP?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19362"/>
            <a:ext cx="5410200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519362"/>
            <a:ext cx="5410200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28637"/>
            <a:ext cx="3048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425" y="2795587"/>
            <a:ext cx="4780597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64748B"/>
                </a:solidFill>
                <a:latin typeface="Space Grotesk"/>
              </a:rPr>
              <a:t>Modelo Tradicional (HTML embutido)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157537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Formulário HTML → Requisição POST → Processamento PHP → Consulta BD → Retorna Página HTML Inteira.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6575" y="2795587"/>
            <a:ext cx="472059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2563EB"/>
                </a:solidFill>
                <a:latin typeface="Space Grotesk"/>
              </a:rPr>
              <a:t>Modelo Moderno (API Rest)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157537"/>
            <a:ext cx="4857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Qualquer Client (Web, App, iOS) → Requisição HTTP → API PHP → Retorna apenas Dados Puros (JSON).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82416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8225" y="3729037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Lógica de negócio acoplada ao visual HTML.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052887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Dificuldade extrema para criar aplicativos móveis.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376737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Reescrita de código necessária para novas telas.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824162"/>
            <a:ext cx="26670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3225" y="3729037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Separação clara entre Frontend e Backend.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052887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Reutilização de código para múltiplas plataformas.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4376737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Aplicações mais leves, escaláveis e flexíveis.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57200"/>
            <a:ext cx="112395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Sistemas Tradicionais vs Arquitetura de APIs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3729037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052887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376737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729037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052887"/>
            <a:ext cx="11430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376737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35968"/>
            <a:ext cx="3555950" cy="3424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035968"/>
            <a:ext cx="3555950" cy="34242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035968"/>
            <a:ext cx="3555950" cy="34242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274093"/>
            <a:ext cx="3079700" cy="1714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274093"/>
            <a:ext cx="307970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2274093"/>
            <a:ext cx="3079700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528637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6191" y="4121943"/>
            <a:ext cx="175021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1. Multiplataforma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464843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Uma única API em PHP alimenta simultaneamente a versão Web, o aplicativo Android e o app 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709" y="4121943"/>
            <a:ext cx="226028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2. Separação de Papéis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075" y="4464843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A equipe de Backend foca nas regras de negócio e banco de dados; o Frontend foca totalmente na experiência do usuário.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5219" y="4121943"/>
            <a:ext cx="291036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3. Escalabilidade &amp; Integração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464843"/>
            <a:ext cx="30797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Permite integrar facilmente com serviços de terceiros (Gateways de pagamento, mapas, inteligência artificial).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9250" y="2283618"/>
            <a:ext cx="23241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5600" y="2283618"/>
            <a:ext cx="3060650" cy="1695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0150" y="2283618"/>
            <a:ext cx="3060650" cy="1695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457200"/>
            <a:ext cx="112395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Principais Vantagens de Utilizar APIs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071937"/>
            <a:ext cx="2558653" cy="96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8816" y="2466082"/>
            <a:ext cx="2558653" cy="11486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232" y="4071937"/>
            <a:ext cx="2558653" cy="962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9649" y="2466975"/>
            <a:ext cx="2558653" cy="11477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28637"/>
            <a:ext cx="266700" cy="266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3400" y="3824287"/>
            <a:ext cx="111252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9454" y="4233862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2563EB"/>
                </a:solidFill>
                <a:latin typeface="Space Grotesk"/>
              </a:rPr>
              <a:t>1. Definir URL e Método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500562"/>
            <a:ext cx="22348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Escolher o verbo HTTP correto (GET, POST, etc.) e a URL do recurso PHP.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4871" y="2628007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2563EB"/>
                </a:solidFill>
                <a:latin typeface="Space Grotesk"/>
              </a:rPr>
              <a:t>2. Configurar 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741" y="2894707"/>
            <a:ext cx="2234803" cy="55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Adicionar para orientar o servidor.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287" y="4233862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2563EB"/>
                </a:solidFill>
                <a:latin typeface="Space Grotesk"/>
              </a:rPr>
              <a:t>3. Inserir o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157" y="4500562"/>
            <a:ext cx="223480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Para POST/PUT, incluir a estrutura JSON com os dados requeridos.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5704" y="2628900"/>
            <a:ext cx="234654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2563EB"/>
                </a:solidFill>
                <a:latin typeface="Space Grotesk"/>
              </a:rPr>
              <a:t>4. Analisar o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1574" y="2895600"/>
            <a:ext cx="2234803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Verificar o código de status HTTP (200, 201, 404, 500) e o JSON retornado.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6112" y="3114229"/>
            <a:ext cx="1764059" cy="3957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457200"/>
            <a:ext cx="112776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Prática de Testes com o Postman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27001" y="37576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82417" y="37576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37834" y="37576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93250" y="37576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137" y="2695575"/>
            <a:ext cx="3895725" cy="466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7" y="457200"/>
            <a:ext cx="1876425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700" y="895350"/>
            <a:ext cx="116586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0F172A"/>
                </a:solidFill>
                <a:latin typeface="Space Grotesk"/>
              </a:rPr>
              <a:t>Perguntas &amp; Discussão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924050"/>
            <a:ext cx="11125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Os métodos HTTP indicam a intenção da chamada e as APIs conectam a sua aplicação ao mundo moderno.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362" y="2843212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1824037"/>
            <a:ext cx="105156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8200" y="2595562"/>
            <a:ext cx="105156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8200" y="3367087"/>
            <a:ext cx="105156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200" y="4138612"/>
            <a:ext cx="105156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8200" y="2586037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8200" y="2586037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8200" y="3357562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8200" y="3357562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8200" y="4129087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8200" y="4129087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8200" y="4900612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38200" y="4900612"/>
            <a:ext cx="105156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6691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933575" y="1974056"/>
            <a:ext cx="94202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https://mdn.github.io/shared-assets/images/diagrams/http/messages/http-2-connection.png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3575" y="2207418"/>
            <a:ext cx="9420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developer.mozilla.org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3843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33575" y="2745581"/>
            <a:ext cx="94202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https://api.free-work.com/media/cache/resolve/blog_post_image_large/what-s-in-a-php-programmer-technical-interview-or-test-tY7vXtzaAIW0Hg5X.png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3575" y="2978943"/>
            <a:ext cx="9420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www.free-work.com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50996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33575" y="3517106"/>
            <a:ext cx="94202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https://images.stockcake.com/public/e/0/b/e0bc270f-36f2-4372-b618-c4513e93c766_large/smartphone-app-interface-stockcake.jpg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3575" y="3750468"/>
            <a:ext cx="9420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stockcake.com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281487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33575" y="4288631"/>
            <a:ext cx="94202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https://cdn.dribbble.com/userupload/46522404/file/2e6c62b20ed4572798888a179ae19ba6.png?resize=752x&amp;vertical=center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3575" y="4521993"/>
            <a:ext cx="9420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dribbble.com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505301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933575" y="5060156"/>
            <a:ext cx="94202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https://docs-ospc.rackspace.com/user-guides/infrastructure/_images/core-infrastructure.png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3575" y="5293518"/>
            <a:ext cx="9420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docs-ospc.rackspace.com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1226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Arial</vt:lpstr>
      <vt:lpstr>Calibri</vt:lpstr>
      <vt:lpstr>monospace</vt:lpstr>
      <vt:lpstr>Plus Jakarta Sans</vt:lpstr>
      <vt:lpstr>Plus Jakarta Sans SemiBold</vt:lpstr>
      <vt:lpstr>Space Grotesk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Kevin De Souza Guimaraes</cp:lastModifiedBy>
  <cp:revision>2</cp:revision>
  <dcterms:created xsi:type="dcterms:W3CDTF">2013-01-27T09:14:16Z</dcterms:created>
  <dcterms:modified xsi:type="dcterms:W3CDTF">2026-08-28T16:42:25Z</dcterms:modified>
  <cp:category/>
</cp:coreProperties>
</file>