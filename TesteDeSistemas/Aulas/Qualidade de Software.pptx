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7.png"/><Relationship Id="rId3" Type="http://schemas.openxmlformats.org/officeDocument/2006/relationships/image" Target="../media/image50.png"/><Relationship Id="rId7" Type="http://schemas.openxmlformats.org/officeDocument/2006/relationships/image" Target="../media/image11.png"/><Relationship Id="rId12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29980"/>
            <a:ext cx="7172325" cy="576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51757"/>
            <a:ext cx="3362325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37532"/>
            <a:ext cx="6850856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Poppins"/>
              </a:rPr>
              <a:t>Qualidade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15605"/>
            <a:ext cx="66103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284C7"/>
                </a:solidFill>
                <a:latin typeface="Inter Medium"/>
              </a:rPr>
              <a:t>Conceitos Fundamentais, Eficiência, Eficácia e Melhoria Contínua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282380"/>
            <a:ext cx="6753225" cy="271462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0F172A"/>
                </a:solidFill>
                <a:latin typeface="Inter"/>
              </a:rPr>
              <a:t>Pergunta Inicial:</a:t>
            </a:r>
            <a:r>
              <a:rPr sz="1425" b="0" i="0" u="none">
                <a:solidFill>
                  <a:srgbClr val="0F172A"/>
                </a:solidFill>
                <a:latin typeface="Inter Medium"/>
              </a:rPr>
              <a:t> Você já deixou de usar um aplicativo porque ele era ruim?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320480"/>
            <a:ext cx="2286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76587"/>
            <a:ext cx="5334000" cy="1190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2406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7490"/>
                </a:solidFill>
                <a:latin typeface="Poppins SemiBold"/>
              </a:rPr>
              <a:t>Conceito de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71737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Qualidade é a capacidade de um produto ou serviço de atender plenamente às necessidades e expectativas do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348037"/>
            <a:ext cx="2419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Exemplo: Aplicativo Bancário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62426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Para ter qualidade, deve ser seguro, rápido, funcional sem erros e de uso intuitivo.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O que é Qualidade?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38700"/>
            <a:ext cx="110490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14575"/>
            <a:ext cx="3530649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49" y="2314575"/>
            <a:ext cx="3530649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2314575"/>
            <a:ext cx="3530649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4981575"/>
            <a:ext cx="1064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A3412"/>
                </a:solidFill>
                <a:latin typeface="Inter"/>
              </a:rPr>
              <a:t>Atenção:</a:t>
            </a:r>
            <a:r>
              <a:rPr sz="1200" b="0" i="0" u="none">
                <a:solidFill>
                  <a:srgbClr val="9A3412"/>
                </a:solidFill>
                <a:latin typeface="Inter"/>
              </a:rPr>
              <a:t> Um software sem bugs não é necessariamente de qualidade se não resolver as necessidades do usuário.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90800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2575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Corretude &amp; Desempenho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3855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O sistema funciona corretamente, apresenta bom desempenho e executa suas tarefas com precisão.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874" y="2590800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874" y="32575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Confiabilidade &amp; 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63855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Garante proteção aos dados do usuário e opera de forma estável, sem falhas inesperadas.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124" y="2590800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2575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Usabilidade &amp; Valor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638550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É fácil de usar e resolve efetivamente o problema real do cliente final.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12" y="2714625"/>
            <a:ext cx="3143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2699" y="2714625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8611" y="2714625"/>
            <a:ext cx="31432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Qualidade de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Estudo de Caso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5875"/>
            <a:ext cx="1600200" cy="23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3830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7490"/>
                </a:solidFill>
                <a:latin typeface="Poppins SemiBold"/>
              </a:rPr>
              <a:t>Ausência de bugs não garante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8597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Imagine um sistema bancário ou escolar que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não apresenta erros técnicos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, porém: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14750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Conclusão: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 software funciona, mas falha em atender satisfatoriamente seus usuários.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7527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52725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Demora 30 segundos para carregar uma tela;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0099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009900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Possui interface confusa e desorganizada;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2670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267075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Usuários não conseguem localizar livros ou informações.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9825"/>
            <a:ext cx="3530649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09825"/>
            <a:ext cx="3530649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09825"/>
            <a:ext cx="3530649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886325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0284C7"/>
                </a:solidFill>
                <a:latin typeface="Inter Medium"/>
              </a:rPr>
              <a:t>Qualidade Total envolve toda a organização: Analistas, Desenvolvedores, Testadores, Gerentes e Suporte.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86050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35280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Análise &amp; Requisitos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3380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 a análise de requisitos for falha, todo o desenvolvimento subsequente será afetado.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86050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874" y="335280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Desenvolvimento &amp; Testes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73380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Código limpo e testes rigorosos garantem a construção correta do produto planejado.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8605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8124" y="335280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Suporte &amp; Operação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3733800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Atendimento e manutenção mantêm a percepção de valor contínua do cliente.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162" y="2809875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9362" y="2809875"/>
            <a:ext cx="3143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1949" y="2809875"/>
            <a:ext cx="247650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Qualidade Total no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1275"/>
            <a:ext cx="5334000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1275"/>
            <a:ext cx="5334000" cy="2505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114800"/>
            <a:ext cx="4705350" cy="657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4114800"/>
            <a:ext cx="4705350" cy="657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343275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Fazer a coisa certa.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14750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Foco no alcance do objetivo final proposto.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43275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Fazer da melhor forma possível.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14750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Foco na otimização de recursos, tempo e esforço.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2928937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6825" y="2895600"/>
            <a:ext cx="9801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Eficácia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229100"/>
            <a:ext cx="4371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Exemplo: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O aplicativo permite realizar um Pix com sucesso. O objetivo do usuário foi atingido.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2928937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81825" y="2895600"/>
            <a:ext cx="118014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7490"/>
                </a:solidFill>
                <a:latin typeface="Poppins SemiBold"/>
              </a:rPr>
              <a:t>Eficiência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229100"/>
            <a:ext cx="4371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Exemplo: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O Pix é concluído em poucos segundos, com poucos cliques e consumo mínimo de bateria/dados.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Eficiência vs Eficácia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05062"/>
          <a:ext cx="11048999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Cenário de Execução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Eficaz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Eficiente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Realiza a transferência Pix com sucesso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Sim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Não necessariamente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Conclui o Pix de forma rápida e otimizada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Sim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Sim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Realiza o Pix exigindo muitos passos e lentidão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Sim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Não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Apresenta erro e não realiza o Pix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Não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Não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962275"/>
            <a:ext cx="6393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65156" y="2962275"/>
            <a:ext cx="1364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30058" y="2962275"/>
            <a:ext cx="3290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533775"/>
            <a:ext cx="6393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65156" y="3533775"/>
            <a:ext cx="1364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30058" y="3533775"/>
            <a:ext cx="3290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105275"/>
            <a:ext cx="6393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65156" y="4105275"/>
            <a:ext cx="1364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30058" y="4105275"/>
            <a:ext cx="3290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76775"/>
            <a:ext cx="6393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65156" y="4676775"/>
            <a:ext cx="1364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0058" y="4676775"/>
            <a:ext cx="3290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248275"/>
            <a:ext cx="6393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65156" y="5248275"/>
            <a:ext cx="1364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0058" y="5248275"/>
            <a:ext cx="3290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20" y="3176587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120" y="4891087"/>
            <a:ext cx="123825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20" y="4319587"/>
            <a:ext cx="1524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792" y="3748087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120" y="3748087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792" y="4319587"/>
            <a:ext cx="12382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2792" y="4891087"/>
            <a:ext cx="12382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20" y="3176587"/>
            <a:ext cx="1524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120" y="3748087"/>
            <a:ext cx="1524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792" y="3748087"/>
            <a:ext cx="1524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20" y="4319587"/>
            <a:ext cx="1524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792" y="4319587"/>
            <a:ext cx="12382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120" y="4891087"/>
            <a:ext cx="12382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2792" y="4891087"/>
            <a:ext cx="1238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Comparativo Prático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147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733" y="4071937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Poppins SemiBold"/>
              </a:rPr>
              <a:t>1. Planejar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71987"/>
            <a:ext cx="243066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Mapeamento de necessidades e análise de feedback dos usuários.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652712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Poppins SemiBold"/>
              </a:rPr>
              <a:t>2. Desenvolver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3052762"/>
            <a:ext cx="243066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Construção das melhorias e implementação de novas funções.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071937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Poppins SemiBold"/>
              </a:rPr>
              <a:t>3. Testar &amp; Corrigir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471987"/>
            <a:ext cx="243066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Validação da qualidade e correção de eventuais falhas.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652712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Poppins SemiBold"/>
              </a:rPr>
              <a:t>4. Evoluir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3052762"/>
            <a:ext cx="243066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Lançamento de atualizações contínuas (Ex: WhatsApp).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Ciclo de Melhoria Contínua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58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426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6941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09621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350" y="3043237"/>
            <a:ext cx="31623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284C7"/>
                </a:solidFill>
                <a:latin typeface="Poppins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9250" y="4376737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Risco Reputacional e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53841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7490"/>
                </a:solidFill>
                <a:latin typeface="Poppins SemiBold"/>
              </a:rPr>
              <a:t>O que acontece quando o software falha?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86087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Falhas de software geram impactos diretos nos negócios e na experiência dos clientes. Empresas podem perder rapidamente: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643312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Prejuízo Financeiro: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Perda imediata de vendas e transações.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4310062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Perda de Clientes: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Migração imediata para concorrentes.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719637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Perda de Credibilidade: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Danos severos à imagem da marca.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6671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333875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743450"/>
            <a:ext cx="21907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Custos de Falhas em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412"/>
            <a:ext cx="533400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38412"/>
            <a:ext cx="5334000" cy="259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300412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Cenário: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Aplicativo indisponível durante um período de 4 horas.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929062"/>
            <a:ext cx="47053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Consequências: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Clientes sem acesso a recursos, surto de reclamações em redes sociais e perda de confiança de novos usuários.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300412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Cenário: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Indisponibilidade do portal no encerramento de inscrições de concursos.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929062"/>
            <a:ext cx="47053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Consequências: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Milhares de cidadãos prejudicados, necessidade de prorrogação e altos custos operacionais de remarcação.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90512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2852737"/>
            <a:ext cx="16802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8B5CF6"/>
                </a:solidFill>
                <a:latin typeface="Poppins SemiBold"/>
              </a:rPr>
              <a:t>Caso Nubank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905125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24675" y="2852737"/>
            <a:ext cx="163020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Caso GOV.BR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Exemplos Reais de Impacto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05087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Funcionalidade: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Executa corretamente todas as tarefas para as quais foi projetado.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4662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Confiabilidade: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Opera de forma consistente e sem interrupções não planejadas.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4237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Usabilidade: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Interface intuitiva que facilita o aprendizado e uso diário.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33812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Desempenho: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Respostas rápidas com consumo otimizado de recursos do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43387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Segurança: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Protege rigorosamente dados sensíveis e informações do usuário.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52962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Manutenibilidade: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Estrutura limpa que permite atualizações e melhorias simples.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890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3847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48050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57625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267200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67677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Atributos de um Software de Qualidade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29175"/>
            <a:ext cx="11049000" cy="485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52675"/>
            <a:ext cx="3530649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49" y="2352675"/>
            <a:ext cx="3530649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2352675"/>
            <a:ext cx="3530649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4943475"/>
            <a:ext cx="105918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0369A1"/>
                </a:solidFill>
                <a:latin typeface="Inter SemiBold"/>
              </a:rPr>
              <a:t>Tempo limite de discussão: 20 minutos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628900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2956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1. Formação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7665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Grupos de 3 a 4 alunos. Escolham um app: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WhatsApp, Instagram, Nubank ou GOV.BR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874" y="2628900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874" y="32956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2. Avaliação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67665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Analisem usabilidade, velocidade, confiabilidade e falhas recentes do aplicativo escolhido.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124" y="2628900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2956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E7490"/>
                </a:solidFill>
                <a:latin typeface="Poppins SemiBold"/>
              </a:rPr>
              <a:t>3. Veredito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676650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Apresentem pontos positivos, oportunidades de melhoria e uma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nota de 0 a 10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587" y="499110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2" y="2752725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1274" y="2752725"/>
            <a:ext cx="1905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7661" y="2752725"/>
            <a:ext cx="2762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Atividade Prática em Grupo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5925" y="2925216"/>
            <a:ext cx="8820150" cy="1359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sz="2550" b="0" i="0" u="none">
                <a:solidFill>
                  <a:srgbClr val="0F172A"/>
                </a:solidFill>
                <a:latin typeface="Poppins Medium"/>
              </a:rPr>
              <a:t>"Um software de qualidade não é aquele que apenas funciona, mas aquele que atende às necessidades do usuário de forma eficiente, confiável e segura."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6650" y="4513808"/>
            <a:ext cx="4838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Inter SemiBold"/>
              </a:rPr>
              <a:t>— Unidade 1: Fundamentos de Qualidade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3115716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BAE6FD"/>
                </a:solidFill>
                <a:latin typeface="Poppins Medium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6575" y="4285205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BAE6FD"/>
                </a:solidFill>
                <a:latin typeface="Poppins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Conclusão da Aula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785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Arial</vt:lpstr>
      <vt:lpstr>Calibri</vt:lpstr>
      <vt:lpstr>Inter</vt:lpstr>
      <vt:lpstr>Inter Medium</vt:lpstr>
      <vt:lpstr>Inter SemiBold</vt:lpstr>
      <vt:lpstr>Poppins</vt:lpstr>
      <vt:lpstr>Poppins Medium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De Souza Guimaraes</cp:lastModifiedBy>
  <cp:revision>2</cp:revision>
  <dcterms:created xsi:type="dcterms:W3CDTF">2013-01-27T09:14:16Z</dcterms:created>
  <dcterms:modified xsi:type="dcterms:W3CDTF">2026-08-26T19:45:06Z</dcterms:modified>
  <cp:category/>
</cp:coreProperties>
</file>